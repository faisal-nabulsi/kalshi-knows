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5" r:id="rId23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12192000"/>
  <p:embeddedFontLst>
    <p:embeddedFont>
      <p:font typeface="Inter"/>
      <p:regular r:id="rId14"/>
      <p:bold r:id="rId15"/>
      <p:italic r:id="rId16"/>
      <p:boldItalic r:id="rId17"/>
    </p:embeddedFont>
    <p:embeddedFont>
      <p:font typeface="Helvetica Neue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T0JEg1lhinAysAgEjn338Tl6Y4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schemas.openxmlformats.org/officeDocument/2006/relationships/font" Target="fonts/HelveticaNeue-regular.fntdata"/><Relationship Id="rId19" Type="http://schemas.openxmlformats.org/officeDocument/2006/relationships/font" Target="fonts/HelveticaNeue-bold.fntdata"/><Relationship Id="rId20" Type="http://schemas.openxmlformats.org/officeDocument/2006/relationships/font" Target="fonts/HelveticaNeue-italic.fntdata"/><Relationship Id="rId21" Type="http://schemas.openxmlformats.org/officeDocument/2006/relationships/font" Target="fonts/HelveticaNeue-boldItalic.fntdata"/><Relationship Id="rId22" Type="http://customschemas.google.com/relationships/presentationmetadata" Target="metadata"/><Relationship Id="rId2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Start with a question, not a product description: "A game changes, a number moves, and most of us still haven't seen what happened. Who finds out first?" Pause.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Walk the audience through the actual sequence. The median market reaction of ~7 seconds comes from the team matched sample. Streaming times are outside reference observations and not measured in the same sample. An alert is not always a correctly identified play.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When the model names a play, it's right 87% of the time: 26 of 30 on 2026 games it never saw, with the game state arriving a play late like it does live; turnovers 7 of 7. When it's at least 80% sure it's right about 4 in 5 across four tests. If asked: the 89.7% figure only holds if you already know a big play happened, so we don't lead with it.</a:t>
            </a: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three live alerts matched to ESPN play-by-play, leading by 39, 50 and 65 seconds. This is an ESPN public-feed comparison, NOT measured latency against a synchronized TV stream; it is a small sample of three.</a:t>
            </a:r>
            <a:endParaRPr/>
          </a:p>
        </p:txBody>
      </p:sp>
      <p:sp>
        <p:nvSpPr>
          <p:cNvPr id="68" name="Google Shape;6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working website and notification. Explain: the system watches public Kalshi prices; a sudden move triggers a possible event; the notification gets sent; the play type is verified later when reliable data arrives. Do not claim instant perfect classification.</a:t>
            </a:r>
            <a:endParaRPr/>
          </a:p>
        </p:txBody>
      </p:sp>
      <p:sp>
        <p:nvSpPr>
          <p:cNvPr id="91" name="Google Shape;9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"This was a niche curiosity not that long ago. In July, Kalshi and Polymarket handled roughly $53 billion in contracts." Note this is trading volume, not platform revenue and certainly not the addressable software market.</a:t>
            </a:r>
            <a:endParaRPr/>
          </a:p>
        </p:txBody>
      </p:sp>
      <p:sp>
        <p:nvSpPr>
          <p:cNvPr id="112" name="Google Shape;11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Point to examples, no claim that one model predicts everything. Economics: CPI and Fed announcements. Politics: certified results/poll releases (neutral monitoring). Law: docket releases or legislation, not claims of tradable court outcomes. Weather: published NWS data. Each case needs its own data and model.</a:t>
            </a:r>
            <a:endParaRPr/>
          </a:p>
        </p:txBody>
      </p:sp>
      <p:sp>
        <p:nvSpPr>
          <p:cNvPr id="135" name="Google Shape;13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"For fans it is a notification. For a researcher it is the ability to search what moved a market and what actually happened. Market teams may want aggregated monitoring." These are hypotheses, not signed customers, and the point is to learn if people will pay.</a:t>
            </a:r>
          </a:p>
          <a:p>
            <a:r>
              <a:t>Say: 'Betting the favorite wins 72% of the time and still loses money: you pay for the odds. A win rate means nothing without the price. Our picks model made +12% after fees on 1,603 markets it never saw; break-even is 52.4%, pros sit around 55%.'</a:t>
            </a:r>
          </a:p>
        </p:txBody>
      </p:sp>
      <p:sp>
        <p:nvSpPr>
          <p:cNvPr id="186" name="Google Shape;18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This is the practical roadmap. Weeks: test on genuinely unseen games and publish the misses. Then build better replay and alert controls with users. Only after that start one new domain with reliable release timestamps.</a:t>
            </a:r>
          </a:p>
          <a:p>
            <a:r>
              <a:t>Say: 'We started reinforcement learning today with a profit reward on 2,634 real NFL moments. In the first steps it learned the honest lesson: pass when there is no edge. The full run is on a GPU now; next is every market from the past decade, which needs more compute and time.'</a:t>
            </a:r>
          </a:p>
        </p:txBody>
      </p:sp>
      <p:sp>
        <p:nvSpPr>
          <p:cNvPr id="223" name="Google Shape;22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MARKET STARTS WITH ONE QUESTION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finds out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few seconds can change what everyone thinks will happen.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  ·  VSS HACKATHON 2026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PLAY THE VIDEO  ·  41 SECONDS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▶  Kalshi Knows in 41 seconds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video/kalshi-knows-ad.mp4  ·  backup: github.com/faisal-nabulsi/kalshi-knows/releases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HOW IT WORKS</a:t>
            </a:r>
            <a:endParaRPr/>
          </a:p>
        </p:txBody>
      </p:sp>
      <p:sp>
        <p:nvSpPr>
          <p:cNvPr id="29" name="Google Shape;29;p2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 seasons of NFL plays. ~8,800 real Kalshi price jumps.</a:t>
            </a:r>
            <a:endParaRPr/>
          </a:p>
        </p:txBody>
      </p:sp>
      <p:sp>
        <p:nvSpPr>
          <p:cNvPr id="30" name="Google Shape;30;p2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paired game history with market moves, then checked the labels by hand</a:t>
            </a:r>
            <a:endParaRPr/>
          </a:p>
        </p:txBody>
      </p:sp>
      <p:sp>
        <p:nvSpPr>
          <p:cNvPr id="31" name="Google Shape;31;p2"/>
          <p:cNvSpPr txBox="1"/>
          <p:nvPr/>
        </p:nvSpPr>
        <p:spPr>
          <a:xfrm>
            <a:off x="6400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</a:t>
            </a:r>
            <a:endParaRPr/>
          </a:p>
        </p:txBody>
      </p:sp>
      <p:sp>
        <p:nvSpPr>
          <p:cNvPr id="32" name="Google Shape;32;p2"/>
          <p:cNvSpPr txBox="1"/>
          <p:nvPr/>
        </p:nvSpPr>
        <p:spPr>
          <a:xfrm>
            <a:off x="6400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NFL seasons</a:t>
            </a:r>
            <a:endParaRPr/>
          </a:p>
        </p:txBody>
      </p:sp>
      <p:sp>
        <p:nvSpPr>
          <p:cNvPr id="33" name="Google Shape;33;p2"/>
          <p:cNvSpPr txBox="1"/>
          <p:nvPr/>
        </p:nvSpPr>
        <p:spPr>
          <a:xfrm>
            <a:off x="6400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available play, with score, clock, field position and result</a:t>
            </a:r>
            <a:endParaRPr/>
          </a:p>
        </p:txBody>
      </p:sp>
      <p:sp>
        <p:nvSpPr>
          <p:cNvPr id="34" name="Google Shape;34;p2"/>
          <p:cNvSpPr txBox="1"/>
          <p:nvPr/>
        </p:nvSpPr>
        <p:spPr>
          <a:xfrm>
            <a:off x="45262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8,800</a:t>
            </a:r>
            <a:endParaRPr/>
          </a:p>
        </p:txBody>
      </p:sp>
      <p:sp>
        <p:nvSpPr>
          <p:cNvPr id="35" name="Google Shape;35;p2"/>
          <p:cNvSpPr txBox="1"/>
          <p:nvPr/>
        </p:nvSpPr>
        <p:spPr>
          <a:xfrm>
            <a:off x="45262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price jumps</a:t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45262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Labeled the jumps, then went back through them to check the calls</a:t>
            </a:r>
            <a:endParaRPr/>
          </a:p>
        </p:txBody>
      </p:sp>
      <p:sp>
        <p:nvSpPr>
          <p:cNvPr id="37" name="Google Shape;37;p2"/>
          <p:cNvSpPr txBox="1"/>
          <p:nvPr/>
        </p:nvSpPr>
        <p:spPr>
          <a:xfrm>
            <a:off x="822960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</a:t>
            </a:r>
            <a:endParaRPr/>
          </a:p>
        </p:txBody>
      </p:sp>
      <p:sp>
        <p:nvSpPr>
          <p:cNvPr id="38" name="Google Shape;38;p2"/>
          <p:cNvSpPr txBox="1"/>
          <p:nvPr/>
        </p:nvSpPr>
        <p:spPr>
          <a:xfrm>
            <a:off x="822960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Event detector</a:t>
            </a:r>
            <a:endParaRPr/>
          </a:p>
        </p:txBody>
      </p:sp>
      <p:sp>
        <p:nvSpPr>
          <p:cNvPr id="39" name="Google Shape;39;p2"/>
          <p:cNvSpPr txBox="1"/>
          <p:nvPr/>
        </p:nvSpPr>
        <p:spPr>
          <a:xfrm>
            <a:off x="822960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Spots a jump and predicts the play behind it</a:t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640080" y="60807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Tested on games the model never saw; labels hand-audited (15% errors found and fixed)</a:t>
            </a:r>
            <a:endParaRPr/>
          </a:p>
        </p:txBody>
      </p:sp>
      <p:sp>
        <p:nvSpPr>
          <p:cNvPr id="41" name="Google Shape;41;p2"/>
          <p:cNvSpPr txBox="1"/>
          <p:nvPr/>
        </p:nvSpPr>
        <p:spPr>
          <a:xfrm>
            <a:off x="640080" y="5394960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Beat Claude Opus 5.5 on prediction quality (log loss 0.51 vs 0.62, significant) · same accuracy · 7 ms</a:t>
            </a:r>
            <a:endParaRPr sz="1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When it names a play, it's right 87% of the time.</a:t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26 of 30 named calls right on unseen 2026 games, live conditions · turnovers 7 of 7</a:t>
            </a:r>
            <a:endParaRPr/>
          </a:p>
        </p:txBody>
      </p:sp>
      <p:cxnSp>
        <p:nvCxnSpPr>
          <p:cNvPr id="51" name="Google Shape;51;p3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52" name="Google Shape;5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3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04</a:t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Unseen 2026 games, one-play-late live game state · when it's 80%+ sure: right ~4 in 5 across four tests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Picture 63" descr="j_confidence_ti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079" y="2075688"/>
            <a:ext cx="5606474" cy="38221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 arrived 18–65 seconds before ESPN’s feed.</a:t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These timings compare our alerts with ESPN’s public play-by-play feed, not live TV</a:t>
            </a:r>
            <a:endParaRPr/>
          </a:p>
        </p:txBody>
      </p:sp>
      <p:cxnSp>
        <p:nvCxnSpPr>
          <p:cNvPr id="74" name="Google Shape;74;p4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75" name="Google Shape;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4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05</a:t>
            </a: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Live, Oct 11 2026 · real-time Kalshi stream: first buzz ~5 s after the market moves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6_live_head_start.png" id="87" name="Google Shape;8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2295144"/>
            <a:ext cx="10497312" cy="34015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LIVE DEMO</a:t>
            </a:r>
            <a:endParaRPr/>
          </a:p>
        </p:txBody>
      </p:sp>
      <p:sp>
        <p:nvSpPr>
          <p:cNvPr id="94" name="Google Shape;94;p5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LIVE: my phone + kalshi-knows.pages.dev</a:t>
            </a: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board → phone buzz → Receipts → Picks page → Auto-bettor on Kalshi's demo exchange</a:t>
            </a:r>
            <a:endParaRPr/>
          </a:p>
        </p:txBody>
      </p:sp>
      <p:sp>
        <p:nvSpPr>
          <p:cNvPr id="96" name="Google Shape;96;p5"/>
          <p:cNvSpPr txBox="1"/>
          <p:nvPr/>
        </p:nvSpPr>
        <p:spPr>
          <a:xfrm>
            <a:off x="777240" y="2743200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97" name="Google Shape;97;p5"/>
          <p:cNvSpPr txBox="1"/>
          <p:nvPr/>
        </p:nvSpPr>
        <p:spPr>
          <a:xfrm>
            <a:off x="1572768" y="2743200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</a:t>
            </a:r>
            <a:endParaRPr/>
          </a:p>
        </p:txBody>
      </p:sp>
      <p:sp>
        <p:nvSpPr>
          <p:cNvPr id="98" name="Google Shape;98;p5"/>
          <p:cNvSpPr txBox="1"/>
          <p:nvPr/>
        </p:nvSpPr>
        <p:spPr>
          <a:xfrm>
            <a:off x="3703320" y="27432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Kalshi prices update</a:t>
            </a:r>
            <a:endParaRPr/>
          </a:p>
        </p:txBody>
      </p:sp>
      <p:sp>
        <p:nvSpPr>
          <p:cNvPr id="99" name="Google Shape;99;p5"/>
          <p:cNvSpPr txBox="1"/>
          <p:nvPr/>
        </p:nvSpPr>
        <p:spPr>
          <a:xfrm>
            <a:off x="777240" y="3547872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1572768" y="3547872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DETECT</a:t>
            </a:r>
            <a:endParaRPr/>
          </a:p>
        </p:txBody>
      </p:sp>
      <p:sp>
        <p:nvSpPr>
          <p:cNvPr id="101" name="Google Shape;101;p5"/>
          <p:cNvSpPr txBox="1"/>
          <p:nvPr/>
        </p:nvSpPr>
        <p:spPr>
          <a:xfrm>
            <a:off x="3703320" y="3547872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model flags a jump and predicts the play</a:t>
            </a:r>
            <a:endParaRPr/>
          </a:p>
        </p:txBody>
      </p:sp>
      <p:sp>
        <p:nvSpPr>
          <p:cNvPr id="102" name="Google Shape;102;p5"/>
          <p:cNvSpPr txBox="1"/>
          <p:nvPr/>
        </p:nvSpPr>
        <p:spPr>
          <a:xfrm>
            <a:off x="777240" y="4352544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3" name="Google Shape;103;p5"/>
          <p:cNvSpPr txBox="1"/>
          <p:nvPr/>
        </p:nvSpPr>
        <p:spPr>
          <a:xfrm>
            <a:off x="1572768" y="4352544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ORDER</a:t>
            </a:r>
            <a:endParaRPr/>
          </a:p>
        </p:txBody>
      </p:sp>
      <p:sp>
        <p:nvSpPr>
          <p:cNvPr id="104" name="Google Shape;104;p5"/>
          <p:cNvSpPr txBox="1"/>
          <p:nvPr/>
        </p:nvSpPr>
        <p:spPr>
          <a:xfrm>
            <a:off x="3703320" y="4352544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auto-bettor submits a play-money order through Kalshi’s API</a:t>
            </a:r>
            <a:endParaRPr/>
          </a:p>
        </p:txBody>
      </p:sp>
      <p:sp>
        <p:nvSpPr>
          <p:cNvPr id="105" name="Google Shape;105;p5"/>
          <p:cNvSpPr txBox="1"/>
          <p:nvPr/>
        </p:nvSpPr>
        <p:spPr>
          <a:xfrm>
            <a:off x="777240" y="5157216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6" name="Google Shape;106;p5"/>
          <p:cNvSpPr txBox="1"/>
          <p:nvPr/>
        </p:nvSpPr>
        <p:spPr>
          <a:xfrm>
            <a:off x="1572768" y="5157216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CHECK</a:t>
            </a:r>
            <a:endParaRPr/>
          </a:p>
        </p:txBody>
      </p:sp>
      <p:sp>
        <p:nvSpPr>
          <p:cNvPr id="107" name="Google Shape;107;p5"/>
          <p:cNvSpPr txBox="1"/>
          <p:nvPr/>
        </p:nvSpPr>
        <p:spPr>
          <a:xfrm>
            <a:off x="3703320" y="5157216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show the alert, order log and what actually happened</a:t>
            </a:r>
            <a:endParaRPr/>
          </a:p>
        </p:txBody>
      </p:sp>
      <p:sp>
        <p:nvSpPr>
          <p:cNvPr id="108" name="Google Shape;108;p5"/>
          <p:cNvSpPr txBox="1"/>
          <p:nvPr/>
        </p:nvSpPr>
        <p:spPr>
          <a:xfrm>
            <a:off x="777240" y="626364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Demo exchange only · play money · not betting advice · 21+ · 1-800-GAMBLER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MARKET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$53B traded in one month across Kalshi and Polymarket.</a:t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July 2026 volume was about 26 times the level a year earlier</a:t>
            </a:r>
            <a:endParaRPr/>
          </a:p>
        </p:txBody>
      </p:sp>
      <p:cxnSp>
        <p:nvCxnSpPr>
          <p:cNvPr id="118" name="Google Shape;118;p6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19" name="Google Shape;1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6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976872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07</a:t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Source: Pew Research Center / The Block, September 23 2026 · monthly global notional volume, NOT software TAM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1_market_volume.png" id="131" name="Google Shape;13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" y="2084832"/>
            <a:ext cx="10698480" cy="388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EXPANSION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same approach could work far beyond football.</a:t>
            </a:r>
            <a:endParaRPr/>
          </a:p>
        </p:txBody>
      </p:sp>
      <p:sp>
        <p:nvSpPr>
          <p:cNvPr id="140" name="Google Shape;140;p7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signal is a price move. The hard part is finding reliable evidence for what caused it</a:t>
            </a:r>
            <a:endParaRPr/>
          </a:p>
        </p:txBody>
      </p:sp>
      <p:cxnSp>
        <p:nvCxnSpPr>
          <p:cNvPr id="141" name="Google Shape;141;p7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42" name="Google Shape;1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7991856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08</a:t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Examples of prospective product categories; existence of tradeable contracts depends on exchange listings and law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832104" y="2112264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CATEGORY</a:t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2770632" y="2112264"/>
            <a:ext cx="288950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WE CHECK</a:t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5715000" y="2112264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USERS GET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8759952" y="211226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WOULD USE IT</a:t>
            </a:r>
            <a:endParaRPr/>
          </a:p>
        </p:txBody>
      </p:sp>
      <p:cxnSp>
        <p:nvCxnSpPr>
          <p:cNvPr id="158" name="Google Shape;158;p7"/>
          <p:cNvCxnSpPr/>
          <p:nvPr/>
        </p:nvCxnSpPr>
        <p:spPr>
          <a:xfrm>
            <a:off x="813816" y="2505456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7"/>
          <p:cNvSpPr/>
          <p:nvPr/>
        </p:nvSpPr>
        <p:spPr>
          <a:xfrm>
            <a:off x="832104" y="2578608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SPORTS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770632" y="2578608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play-by-play</a:t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5705856" y="2578608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Alerts before replays</a:t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8759952" y="2578608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Fans and viewers</a:t>
            </a:r>
            <a:endParaRPr/>
          </a:p>
        </p:txBody>
      </p:sp>
      <p:cxnSp>
        <p:nvCxnSpPr>
          <p:cNvPr id="163" name="Google Shape;163;p7"/>
          <p:cNvCxnSpPr/>
          <p:nvPr/>
        </p:nvCxnSpPr>
        <p:spPr>
          <a:xfrm>
            <a:off x="813816" y="3090672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7"/>
          <p:cNvSpPr/>
          <p:nvPr/>
        </p:nvSpPr>
        <p:spPr>
          <a:xfrm>
            <a:off x="832104" y="3163824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2770632" y="3163824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 releases</a:t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705856" y="3163824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CPI / rate change alerts</a:t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759952" y="3163824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Analysts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813816" y="3675888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7"/>
          <p:cNvSpPr/>
          <p:nvPr/>
        </p:nvSpPr>
        <p:spPr>
          <a:xfrm>
            <a:off x="832104" y="3749040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CRYPTO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2770632" y="3749040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Prices and exchange data</a:t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5705856" y="3749040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Crash / spike alerts</a:t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8759952" y="3749040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Traders</a:t>
            </a:r>
            <a:endParaRPr/>
          </a:p>
        </p:txBody>
      </p:sp>
      <p:cxnSp>
        <p:nvCxnSpPr>
          <p:cNvPr id="173" name="Google Shape;173;p7"/>
          <p:cNvCxnSpPr/>
          <p:nvPr/>
        </p:nvCxnSpPr>
        <p:spPr>
          <a:xfrm>
            <a:off x="813816" y="4261104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7"/>
          <p:cNvSpPr/>
          <p:nvPr/>
        </p:nvSpPr>
        <p:spPr>
          <a:xfrm>
            <a:off x="832104" y="4334256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2770632" y="4334256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Court orders and new bills</a:t>
            </a: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5705856" y="4334256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Ruling and policy alerts</a:t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8759952" y="4334256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 teams</a:t>
            </a:r>
            <a:endParaRPr/>
          </a:p>
        </p:txBody>
      </p:sp>
      <p:cxnSp>
        <p:nvCxnSpPr>
          <p:cNvPr id="178" name="Google Shape;178;p7"/>
          <p:cNvCxnSpPr/>
          <p:nvPr/>
        </p:nvCxnSpPr>
        <p:spPr>
          <a:xfrm>
            <a:off x="813816" y="4846320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" name="Google Shape;179;p7"/>
          <p:cNvSpPr/>
          <p:nvPr/>
        </p:nvSpPr>
        <p:spPr>
          <a:xfrm>
            <a:off x="832104" y="4919472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WEATHER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2770632" y="4919472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Forecasts and weather data</a:t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5705856" y="4919472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Storm and temperature moves</a:t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8759952" y="4919472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Insurance / operations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BUSINESS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fans. Then build the tools analysts actually need.</a:t>
            </a: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Betting the favorite wins 72% of bets and still loses money. Our picks model returned +12% after fees on 1,603 unseen bets.</a:t>
            </a:r>
            <a:endParaRPr/>
          </a:p>
        </p:txBody>
      </p:sp>
      <p:cxnSp>
        <p:nvCxnSpPr>
          <p:cNvPr id="192" name="Google Shape;192;p8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93" name="Google Shape;1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8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9006840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09</a:t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Free alerts → Pro ~$15/mo → B2B data/API · Picks model: +12% after fees on 1,603 unseen bets (break-even 52.4%, pros ~55%) · Not betting advice · 21+ ·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77724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77724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01  SPORTS FANS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77724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Know before the replay</a:t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77724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alerts, replays and a record of which calls were right</a:t>
            </a: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77724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 communities and watch parties</a:t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4507992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4507992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02  RESEARCHERS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4507992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See why prices moved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4507992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Search past price swings and compare them with the actual news</a:t>
            </a: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4507992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 whether teams will pay for historical data</a:t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822960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822960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  MARKET TEAMS</a:t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822960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 many markets</a:t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822960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Flag unusual activity and pull market history through an API</a:t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822960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Talk to trading firms and exchanges before building this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NEXT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Next: every market, a decade of data, RL on profit.</a:t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Train on 4.36M+ settled markets (Kalshi + Polymarket) with reinforcement learning; today we were limited by compute and training time</a:t>
            </a:r>
            <a:endParaRPr/>
          </a:p>
        </p:txBody>
      </p:sp>
      <p:cxnSp>
        <p:nvCxnSpPr>
          <p:cNvPr id="229" name="Google Shape;229;p9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230" name="Google Shape;23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10021824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10</a:t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Targets, not results · Public data only · No real money · Not betting advice · 21+ · Gambling problem?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786384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786384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  /  RL (GRPO) ON A GPU</a:t>
            </a: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86384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Reinforcement learning with a profit reward</a:t>
            </a: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786384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Started today on 2,634 real NFL moments: early steps learned to PASS when there's no edge; full run training on a Kaggle GPU now</a:t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4498848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498848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AFTER THAT  /  1–3 MONTHS</a:t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4498848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Make the app useful</a:t>
            </a:r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4498848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Better alerts and replays, then test with actual users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211312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8211312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LONGER TERM  /  3–6 MONTHS</a:t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8211312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Try another category</a:t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8211312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economic or weather releases and compare market reactions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2026-10-11T21:29:32Z</dcterms:created>
  <dc:creator>Kalshi Knows · VSS Hackathon</dc:creator>
</cp:coreProperties>
</file>