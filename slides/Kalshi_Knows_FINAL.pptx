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65" r:id="rId23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y="6858000" cx="12192000"/>
  <p:notesSz cx="6858000" cy="12192000"/>
  <p:embeddedFontLst>
    <p:embeddedFont>
      <p:font typeface="Inter"/>
      <p:regular r:id="rId14"/>
      <p:bold r:id="rId15"/>
      <p:italic r:id="rId16"/>
      <p:boldItalic r:id="rId17"/>
    </p:embeddedFont>
    <p:embeddedFont>
      <p:font typeface="Helvetica Neue"/>
      <p:regular r:id="rId18"/>
      <p:bold r:id="rId19"/>
      <p:italic r:id="rId20"/>
      <p:boldItalic r:id="rId2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2" roundtripDataSignature="AMtx7mgT0JEg1lhinAysAgEjn338Tl6Y4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font" Target="fonts/Inter-regular.fntdata"/><Relationship Id="rId15" Type="http://schemas.openxmlformats.org/officeDocument/2006/relationships/font" Target="fonts/Inter-bold.fntdata"/><Relationship Id="rId16" Type="http://schemas.openxmlformats.org/officeDocument/2006/relationships/font" Target="fonts/Inter-italic.fntdata"/><Relationship Id="rId17" Type="http://schemas.openxmlformats.org/officeDocument/2006/relationships/font" Target="fonts/Inter-boldItalic.fntdata"/><Relationship Id="rId18" Type="http://schemas.openxmlformats.org/officeDocument/2006/relationships/font" Target="fonts/HelveticaNeue-regular.fntdata"/><Relationship Id="rId19" Type="http://schemas.openxmlformats.org/officeDocument/2006/relationships/font" Target="fonts/HelveticaNeue-bold.fntdata"/><Relationship Id="rId20" Type="http://schemas.openxmlformats.org/officeDocument/2006/relationships/font" Target="fonts/HelveticaNeue-italic.fntdata"/><Relationship Id="rId21" Type="http://schemas.openxmlformats.org/officeDocument/2006/relationships/font" Target="fonts/HelveticaNeue-boldItalic.fntdata"/><Relationship Id="rId22" Type="http://customschemas.google.com/relationships/presentationmetadata" Target="metadata"/><Relationship Id="rId23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Start with a question, not a product description: "A game changes, a number moves, and most of us still haven't seen what happened. Who finds out first?" Pause.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" name="Google Shape;2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Walk the audience through the actual sequence. The median market reaction of ~7 seconds comes from the team matched sample. Streaming times are outside reference observations and not measured in the same sample. An alert is not always a correctly identified play.</a:t>
            </a:r>
            <a:endParaRPr/>
          </a:p>
        </p:txBody>
      </p:sp>
      <p:sp>
        <p:nvSpPr>
          <p:cNvPr id="26" name="Google Shape;26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" name="Google Shape;4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When the model names a play, it's right 87% of the time: 26 of 30 on 2026 games it never saw, with the game state arriving a play late like it does live; turnovers 7 of 7. When it's at least 80% sure it's right about 4 in 5 across four tests. If asked: the 89.7% figure only holds if you already know a big play happened, so we don't lead with it.</a:t>
            </a:r>
          </a:p>
        </p:txBody>
      </p:sp>
      <p:sp>
        <p:nvSpPr>
          <p:cNvPr id="45" name="Google Shape;4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" name="Google Shape;6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Show the three live alerts matched to ESPN play-by-play, leading by 39, 50 and 65 seconds. This is an ESPN public-feed comparison, NOT measured latency against a synchronized TV stream; it is a small sample of three.</a:t>
            </a:r>
            <a:endParaRPr/>
          </a:p>
        </p:txBody>
      </p:sp>
      <p:sp>
        <p:nvSpPr>
          <p:cNvPr id="68" name="Google Shape;68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0" name="Google Shape;9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Show the working website and notification. Explain: the system watches public Kalshi prices; a sudden move triggers a possible event; the notification gets sent; the play type is verified later when reliable data arrives. Do not claim instant perfect classification.</a:t>
            </a:r>
            <a:endParaRPr/>
          </a:p>
        </p:txBody>
      </p:sp>
      <p:sp>
        <p:nvSpPr>
          <p:cNvPr id="91" name="Google Shape;91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"This was a niche curiosity not that long ago. In July, Kalshi and Polymarket handled roughly $53 billion in contracts." Note this is trading volume, not platform revenue and certainly not the addressable software market.</a:t>
            </a:r>
            <a:endParaRPr/>
          </a:p>
        </p:txBody>
      </p:sp>
      <p:sp>
        <p:nvSpPr>
          <p:cNvPr id="112" name="Google Shape;112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Point to examples, no claim that one model predicts everything. Economics: CPI and Fed announcements. Politics: certified results/poll releases (neutral monitoring). Law: docket releases or legislation, not claims of tradable court outcomes. Weather: published NWS data. Each case needs its own data and model.</a:t>
            </a:r>
            <a:endParaRPr/>
          </a:p>
        </p:txBody>
      </p:sp>
      <p:sp>
        <p:nvSpPr>
          <p:cNvPr id="135" name="Google Shape;135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5" name="Google Shape;18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Say: '$10 on every pick our model made on markets it had never seen: plus $992 after fees, a 10% return. An elite bettor makes about 5%. Break-even is 52.4%.'</a:t>
            </a:r>
          </a:p>
        </p:txBody>
      </p:sp>
      <p:sp>
        <p:nvSpPr>
          <p:cNvPr id="186" name="Google Shape;186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2" name="Google Shape;22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Say: 'We built a reinforcement learning pipeline, GRPO, rewarded purely on profit, and it's running on a GPU. Next: a bigger model, every market, a decade of data.' If asked about results: the first short runs haven't found an edge yet, which is what you'd expect from a small model in a few minutes.</a:t>
            </a:r>
          </a:p>
        </p:txBody>
      </p:sp>
      <p:sp>
        <p:nvSpPr>
          <p:cNvPr id="223" name="Google Shape;223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694944" y="612648"/>
            <a:ext cx="9144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EVERY MARKET STARTS WITH ONE QUESTION</a:t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685800" y="1581912"/>
            <a:ext cx="978408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5700"/>
              <a:buFont typeface="Helvetica Neue"/>
              <a:buNone/>
            </a:pPr>
            <a:r>
              <a:rPr b="1" i="0" lang="en-US" sz="5700" u="none" cap="none" strike="noStrike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</a:t>
            </a:r>
            <a:endParaRPr b="0" i="0" sz="6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5700"/>
              <a:buFont typeface="Helvetica Neue"/>
              <a:buNone/>
            </a:pPr>
            <a:r>
              <a:rPr b="1" i="0" lang="en-US" sz="2394" u="none" cap="none" strike="noStrike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Who finds out first?</a:t>
            </a:r>
            <a:endParaRPr b="0" i="0" sz="6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694944" y="4379976"/>
            <a:ext cx="978408" cy="64008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694944" y="4791456"/>
            <a:ext cx="92354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 few seconds can change what everyone thinks will happen.</a:t>
            </a:r>
            <a:endParaRPr/>
          </a:p>
        </p:txBody>
      </p:sp>
      <p:pic>
        <p:nvPicPr>
          <p:cNvPr descr="/mnt/data/kalshi_knows_rebuilt/assets/lion_mark.png" id="20" name="Google Shape;20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281160" y="1920240"/>
            <a:ext cx="2148840" cy="21488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/mnt/data/kalshi_knows_rebuilt/assets/vss_mark_dark.png" id="21" name="Google Shape;21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3232" y="5998464"/>
            <a:ext cx="402336" cy="329184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1"/>
          <p:cNvSpPr/>
          <p:nvPr/>
        </p:nvSpPr>
        <p:spPr>
          <a:xfrm>
            <a:off x="1252728" y="6144768"/>
            <a:ext cx="38404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900"/>
              <a:buFont typeface="Helvetica Neue"/>
              <a:buNone/>
            </a:pPr>
            <a:r>
              <a:rPr b="1" lang="en-US" sz="9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·  FAISAL NABULSI  ·  KEVIN HUANG  ·  DUGAR  ·  VSS HACKATHON 2026</a:t>
            </a:r>
            <a:endParaRPr sz="9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301752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1">
                <a:solidFill>
                  <a:srgbClr val="EDE8DF"/>
                </a:solidFill>
                <a:latin typeface="Helvetica Neue"/>
              </a:rPr>
              <a:t>QUESTION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17520" y="6382512"/>
            <a:ext cx="664464" cy="32004"/>
          </a:xfrm>
          <a:prstGeom prst="rect">
            <a:avLst/>
          </a:prstGeom>
          <a:solidFill>
            <a:srgbClr val="FF4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4810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VIDEO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7868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HOW IT WORKS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0926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ACCURACY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984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SPEED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7042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LIVE DEMO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100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MARKET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3158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EXPANSION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6216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BUSINESS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9274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NEXT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" name="Google Shape;16;p1"/>
          <p:cNvSpPr/>
          <p:nvPr/>
        </p:nvSpPr>
        <p:spPr>
          <a:xfrm>
            <a:off x="694944" y="612648"/>
            <a:ext cx="9144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PLAY THE VIDEO  ·  41 SECONDS</a:t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685800" y="1581912"/>
            <a:ext cx="978408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5700"/>
              <a:buFont typeface="Helvetica Neue"/>
              <a:buNone/>
            </a:pPr>
            <a:r>
              <a:rPr b="1" i="0" lang="en-US" sz="5700" u="none" cap="none" strike="noStrike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▶  Kalshi Knows in 41 seconds</a:t>
            </a:r>
            <a:endParaRPr b="0" i="0" sz="6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5700"/>
              <a:buFont typeface="Helvetica Neue"/>
              <a:buNone/>
            </a:pPr>
            <a:r>
              <a:rPr b="1" i="0" lang="en-US" sz="5700" u="none" cap="none" strike="noStrike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first?</a:t>
            </a:r>
            <a:endParaRPr b="0" i="0" sz="6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694944" y="4379976"/>
            <a:ext cx="978408" cy="64008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694944" y="4791456"/>
            <a:ext cx="92354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video/kalshi-knows-ad.mp4  ·  backup: github.com/faisal-nabulsi/kalshi-knows/releases</a:t>
            </a:r>
            <a:endParaRPr/>
          </a:p>
        </p:txBody>
      </p:sp>
      <p:pic>
        <p:nvPicPr>
          <p:cNvPr descr="/mnt/data/kalshi_knows_rebuilt/assets/lion_mark.png" id="20" name="Google Shape;20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281160" y="1920240"/>
            <a:ext cx="2148840" cy="21488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/mnt/data/kalshi_knows_rebuilt/assets/vss_mark_dark.png" id="21" name="Google Shape;21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3232" y="5998464"/>
            <a:ext cx="402336" cy="329184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1"/>
          <p:cNvSpPr/>
          <p:nvPr/>
        </p:nvSpPr>
        <p:spPr>
          <a:xfrm>
            <a:off x="1252728" y="6144768"/>
            <a:ext cx="38404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900"/>
              <a:buFont typeface="Helvetica Neue"/>
              <a:buNone/>
            </a:pPr>
            <a:r>
              <a:rPr b="1" lang="en-US" sz="9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·  FAISAL NABULSI  ·  KEVIN HUANG  ·  DUGAR</a:t>
            </a:r>
            <a:endParaRPr sz="9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301752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QUESTION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810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1">
                <a:solidFill>
                  <a:srgbClr val="EDE8DF"/>
                </a:solidFill>
                <a:latin typeface="Helvetica Neue"/>
              </a:rPr>
              <a:t>VIDEO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48100" y="6382512"/>
            <a:ext cx="664464" cy="32004"/>
          </a:xfrm>
          <a:prstGeom prst="rect">
            <a:avLst/>
          </a:prstGeom>
          <a:solidFill>
            <a:srgbClr val="FF4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7868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HOW IT WORKS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0926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ACCURACY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984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SPEED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7042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LIVE DEMO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100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MARKET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3158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EXPANSION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6216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BUSINESS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9274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NEXT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090B"/>
        </a:solidFill>
      </p:bgPr>
    </p:bg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"/>
          <p:cNvSpPr txBox="1"/>
          <p:nvPr/>
        </p:nvSpPr>
        <p:spPr>
          <a:xfrm>
            <a:off x="594360" y="292608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 /   HOW IT WORKS</a:t>
            </a:r>
            <a:endParaRPr/>
          </a:p>
        </p:txBody>
      </p:sp>
      <p:sp>
        <p:nvSpPr>
          <p:cNvPr id="29" name="Google Shape;29;p2"/>
          <p:cNvSpPr txBox="1"/>
          <p:nvPr/>
        </p:nvSpPr>
        <p:spPr>
          <a:xfrm>
            <a:off x="594360" y="941832"/>
            <a:ext cx="10972800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25 seasons of NFL plays. ~8,800 real Kalshi price jumps.</a:t>
            </a:r>
            <a:endParaRPr/>
          </a:p>
        </p:txBody>
      </p:sp>
      <p:sp>
        <p:nvSpPr>
          <p:cNvPr id="30" name="Google Shape;30;p2"/>
          <p:cNvSpPr txBox="1"/>
          <p:nvPr/>
        </p:nvSpPr>
        <p:spPr>
          <a:xfrm>
            <a:off x="612648" y="1938528"/>
            <a:ext cx="100584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We paired game history with market moves, then checked the labels by hand</a:t>
            </a:r>
            <a:endParaRPr/>
          </a:p>
        </p:txBody>
      </p:sp>
      <p:sp>
        <p:nvSpPr>
          <p:cNvPr id="31" name="Google Shape;31;p2"/>
          <p:cNvSpPr txBox="1"/>
          <p:nvPr/>
        </p:nvSpPr>
        <p:spPr>
          <a:xfrm>
            <a:off x="640080" y="2880360"/>
            <a:ext cx="30175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03</a:t>
            </a:r>
            <a:endParaRPr/>
          </a:p>
        </p:txBody>
      </p:sp>
      <p:sp>
        <p:nvSpPr>
          <p:cNvPr id="32" name="Google Shape;32;p2"/>
          <p:cNvSpPr txBox="1"/>
          <p:nvPr/>
        </p:nvSpPr>
        <p:spPr>
          <a:xfrm>
            <a:off x="640080" y="3675887"/>
            <a:ext cx="32004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NFL seasons</a:t>
            </a:r>
            <a:endParaRPr/>
          </a:p>
        </p:txBody>
      </p:sp>
      <p:sp>
        <p:nvSpPr>
          <p:cNvPr id="33" name="Google Shape;33;p2"/>
          <p:cNvSpPr txBox="1"/>
          <p:nvPr/>
        </p:nvSpPr>
        <p:spPr>
          <a:xfrm>
            <a:off x="640080" y="4160520"/>
            <a:ext cx="306324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Every available play, with score, clock, field position and result</a:t>
            </a:r>
            <a:endParaRPr/>
          </a:p>
        </p:txBody>
      </p:sp>
      <p:sp>
        <p:nvSpPr>
          <p:cNvPr id="34" name="Google Shape;34;p2"/>
          <p:cNvSpPr txBox="1"/>
          <p:nvPr/>
        </p:nvSpPr>
        <p:spPr>
          <a:xfrm>
            <a:off x="4526280" y="2880360"/>
            <a:ext cx="30175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8,800</a:t>
            </a:r>
            <a:endParaRPr/>
          </a:p>
        </p:txBody>
      </p:sp>
      <p:sp>
        <p:nvSpPr>
          <p:cNvPr id="35" name="Google Shape;35;p2"/>
          <p:cNvSpPr txBox="1"/>
          <p:nvPr/>
        </p:nvSpPr>
        <p:spPr>
          <a:xfrm>
            <a:off x="4526280" y="3675887"/>
            <a:ext cx="32004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price jumps</a:t>
            </a:r>
            <a:endParaRPr/>
          </a:p>
        </p:txBody>
      </p:sp>
      <p:sp>
        <p:nvSpPr>
          <p:cNvPr id="36" name="Google Shape;36;p2"/>
          <p:cNvSpPr txBox="1"/>
          <p:nvPr/>
        </p:nvSpPr>
        <p:spPr>
          <a:xfrm>
            <a:off x="4526280" y="4160520"/>
            <a:ext cx="306324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Labeled the jumps, then went back through them to check the calls</a:t>
            </a:r>
            <a:endParaRPr/>
          </a:p>
        </p:txBody>
      </p:sp>
      <p:sp>
        <p:nvSpPr>
          <p:cNvPr id="37" name="Google Shape;37;p2"/>
          <p:cNvSpPr txBox="1"/>
          <p:nvPr/>
        </p:nvSpPr>
        <p:spPr>
          <a:xfrm>
            <a:off x="8229600" y="2880360"/>
            <a:ext cx="30175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</a:t>
            </a:r>
            <a:endParaRPr/>
          </a:p>
        </p:txBody>
      </p:sp>
      <p:sp>
        <p:nvSpPr>
          <p:cNvPr id="38" name="Google Shape;38;p2"/>
          <p:cNvSpPr txBox="1"/>
          <p:nvPr/>
        </p:nvSpPr>
        <p:spPr>
          <a:xfrm>
            <a:off x="8229600" y="3675887"/>
            <a:ext cx="32004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Event detector</a:t>
            </a:r>
            <a:endParaRPr/>
          </a:p>
        </p:txBody>
      </p:sp>
      <p:sp>
        <p:nvSpPr>
          <p:cNvPr id="39" name="Google Shape;39;p2"/>
          <p:cNvSpPr txBox="1"/>
          <p:nvPr/>
        </p:nvSpPr>
        <p:spPr>
          <a:xfrm>
            <a:off x="8229600" y="4160520"/>
            <a:ext cx="306324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Spots a jump and predicts the play behind it</a:t>
            </a:r>
            <a:endParaRPr/>
          </a:p>
        </p:txBody>
      </p:sp>
      <p:sp>
        <p:nvSpPr>
          <p:cNvPr id="40" name="Google Shape;40;p2"/>
          <p:cNvSpPr txBox="1"/>
          <p:nvPr/>
        </p:nvSpPr>
        <p:spPr>
          <a:xfrm>
            <a:off x="640080" y="608076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Tested on games the model never saw; labels hand-audited (15% errors found and fixed)</a:t>
            </a:r>
            <a:endParaRPr/>
          </a:p>
        </p:txBody>
      </p:sp>
      <p:sp>
        <p:nvSpPr>
          <p:cNvPr id="41" name="Google Shape;41;p2"/>
          <p:cNvSpPr txBox="1"/>
          <p:nvPr/>
        </p:nvSpPr>
        <p:spPr>
          <a:xfrm>
            <a:off x="640080" y="5394960"/>
            <a:ext cx="10058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Beat Claude Opus 5.5 on prediction quality (log loss 0.51 vs 0.62, significant) · same accuracy · 7 ms</a:t>
            </a:r>
            <a:endParaRPr sz="1900"/>
          </a:p>
        </p:txBody>
      </p:sp>
      <p:sp>
        <p:nvSpPr>
          <p:cNvPr id="42" name="TextBox 41"/>
          <p:cNvSpPr txBox="1"/>
          <p:nvPr/>
        </p:nvSpPr>
        <p:spPr>
          <a:xfrm>
            <a:off x="301752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QUESTION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4810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VIDEO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7868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1">
                <a:solidFill>
                  <a:srgbClr val="EDE8DF"/>
                </a:solidFill>
                <a:latin typeface="Helvetica Neue"/>
              </a:rPr>
              <a:t>HOW IT WORKS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678680" y="6382512"/>
            <a:ext cx="664464" cy="32004"/>
          </a:xfrm>
          <a:prstGeom prst="rect">
            <a:avLst/>
          </a:prstGeom>
          <a:solidFill>
            <a:srgbClr val="FF4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50926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ACCURACY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3984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SPEED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7042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LIVE DEMO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0100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MARKET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3158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EXPANSION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6216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BUSINESS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9274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NEXT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3"/>
          <p:cNvSpPr/>
          <p:nvPr/>
        </p:nvSpPr>
        <p:spPr>
          <a:xfrm>
            <a:off x="685800" y="347472"/>
            <a:ext cx="329184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685800" y="182880"/>
            <a:ext cx="7772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80"/>
              <a:buFont typeface="Helvetica Neue"/>
              <a:buNone/>
            </a:pPr>
            <a:r>
              <a:rPr b="1" lang="en-US" sz="8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/  EVIDENCE</a:t>
            </a:r>
            <a:endParaRPr sz="8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676656" y="649224"/>
            <a:ext cx="109270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5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When it names a play, it's right 87% of the time.</a:t>
            </a:r>
            <a:endParaRPr/>
          </a:p>
        </p:txBody>
      </p:sp>
      <p:sp>
        <p:nvSpPr>
          <p:cNvPr id="50" name="Google Shape;50;p3"/>
          <p:cNvSpPr/>
          <p:nvPr/>
        </p:nvSpPr>
        <p:spPr>
          <a:xfrm>
            <a:off x="704088" y="1627632"/>
            <a:ext cx="1080820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26 of 30 named calls right on unseen 2026 games, live conditions · turnovers 7 of 7</a:t>
            </a:r>
            <a:endParaRPr/>
          </a:p>
        </p:txBody>
      </p:sp>
      <p:cxnSp>
        <p:nvCxnSpPr>
          <p:cNvPr id="51" name="Google Shape;51;p3"/>
          <p:cNvCxnSpPr/>
          <p:nvPr/>
        </p:nvCxnSpPr>
        <p:spPr>
          <a:xfrm>
            <a:off x="640080" y="6373368"/>
            <a:ext cx="1092708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/mnt/data/kalshi_knows_rebuilt/assets/vss_mark_dark.png" id="52" name="Google Shape;52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792" y="6432804"/>
            <a:ext cx="283464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3"/>
          <p:cNvSpPr/>
          <p:nvPr/>
        </p:nvSpPr>
        <p:spPr>
          <a:xfrm>
            <a:off x="1005840" y="642366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20"/>
              <a:buFont typeface="Helvetica Neue"/>
              <a:buNone/>
            </a:pPr>
            <a:r>
              <a:rPr b="1" lang="en-US" sz="82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</a:t>
            </a:r>
            <a:endParaRPr sz="82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2" name="Google Shape;62;p3"/>
          <p:cNvSpPr/>
          <p:nvPr/>
        </p:nvSpPr>
        <p:spPr>
          <a:xfrm>
            <a:off x="11320272" y="6423660"/>
            <a:ext cx="21031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04</a:t>
            </a:r>
            <a:endParaRPr/>
          </a:p>
        </p:txBody>
      </p:sp>
      <p:sp>
        <p:nvSpPr>
          <p:cNvPr id="63" name="Google Shape;63;p3"/>
          <p:cNvSpPr/>
          <p:nvPr/>
        </p:nvSpPr>
        <p:spPr>
          <a:xfrm>
            <a:off x="704088" y="6153912"/>
            <a:ext cx="1082649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10"/>
              <a:buFont typeface="Helvetica Neue"/>
              <a:buNone/>
            </a:pPr>
            <a:r>
              <a:rPr lang="en-US" sz="81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Unseen 2026 games, one-play-late live game state · when it's 80%+ sure: right ~4 in 5 across four tests</a:t>
            </a:r>
            <a:endParaRPr sz="715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4" name="Picture 63" descr="j_confidence_ti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54079" y="2409963"/>
            <a:ext cx="5606474" cy="3153641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301752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QUESTION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84810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VIDEO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7868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HOW IT WORKS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50926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1">
                <a:solidFill>
                  <a:srgbClr val="EDE8DF"/>
                </a:solidFill>
                <a:latin typeface="Helvetica Neue"/>
              </a:rPr>
              <a:t>ACCURACY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509260" y="6382512"/>
            <a:ext cx="664464" cy="32004"/>
          </a:xfrm>
          <a:prstGeom prst="rect">
            <a:avLst/>
          </a:prstGeom>
          <a:solidFill>
            <a:srgbClr val="FF4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33984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SPEED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7042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LIVE DEMO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0100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MARKET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3158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EXPANSION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66216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BUSINESS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49274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NEXT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4"/>
          <p:cNvSpPr/>
          <p:nvPr/>
        </p:nvSpPr>
        <p:spPr>
          <a:xfrm>
            <a:off x="685800" y="347472"/>
            <a:ext cx="329184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1" name="Google Shape;71;p4"/>
          <p:cNvSpPr/>
          <p:nvPr/>
        </p:nvSpPr>
        <p:spPr>
          <a:xfrm>
            <a:off x="685800" y="182880"/>
            <a:ext cx="7772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80"/>
              <a:buFont typeface="Helvetica Neue"/>
              <a:buNone/>
            </a:pPr>
            <a:r>
              <a:rPr b="1" lang="en-US" sz="8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/  EVIDENCE</a:t>
            </a:r>
            <a:endParaRPr sz="8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2" name="Google Shape;72;p4"/>
          <p:cNvSpPr/>
          <p:nvPr/>
        </p:nvSpPr>
        <p:spPr>
          <a:xfrm>
            <a:off x="676656" y="649224"/>
            <a:ext cx="109270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5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2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 alerts arrived 18–65 seconds before ESPN’s feed.</a:t>
            </a:r>
            <a:endParaRPr/>
          </a:p>
        </p:txBody>
      </p:sp>
      <p:sp>
        <p:nvSpPr>
          <p:cNvPr id="73" name="Google Shape;73;p4"/>
          <p:cNvSpPr/>
          <p:nvPr/>
        </p:nvSpPr>
        <p:spPr>
          <a:xfrm>
            <a:off x="704088" y="1627632"/>
            <a:ext cx="1080820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These timings compare our alerts with ESPN’s public play-by-play feed, not live TV</a:t>
            </a:r>
            <a:endParaRPr/>
          </a:p>
        </p:txBody>
      </p:sp>
      <p:cxnSp>
        <p:nvCxnSpPr>
          <p:cNvPr id="74" name="Google Shape;74;p4"/>
          <p:cNvCxnSpPr/>
          <p:nvPr/>
        </p:nvCxnSpPr>
        <p:spPr>
          <a:xfrm>
            <a:off x="640080" y="6373368"/>
            <a:ext cx="1092708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/mnt/data/kalshi_knows_rebuilt/assets/vss_mark_dark.png" id="75" name="Google Shape;75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792" y="6432804"/>
            <a:ext cx="283464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4"/>
          <p:cNvSpPr/>
          <p:nvPr/>
        </p:nvSpPr>
        <p:spPr>
          <a:xfrm>
            <a:off x="1005840" y="642366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20"/>
              <a:buFont typeface="Helvetica Neue"/>
              <a:buNone/>
            </a:pPr>
            <a:r>
              <a:rPr b="1" lang="en-US" sz="82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</a:t>
            </a:r>
            <a:endParaRPr sz="82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5" name="Google Shape;85;p4"/>
          <p:cNvSpPr/>
          <p:nvPr/>
        </p:nvSpPr>
        <p:spPr>
          <a:xfrm>
            <a:off x="11320272" y="6423660"/>
            <a:ext cx="21031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05</a:t>
            </a:r>
            <a:endParaRPr/>
          </a:p>
        </p:txBody>
      </p:sp>
      <p:sp>
        <p:nvSpPr>
          <p:cNvPr id="86" name="Google Shape;86;p4"/>
          <p:cNvSpPr/>
          <p:nvPr/>
        </p:nvSpPr>
        <p:spPr>
          <a:xfrm>
            <a:off x="704088" y="6153912"/>
            <a:ext cx="1082649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10"/>
              <a:buFont typeface="Helvetica Neue"/>
              <a:buNone/>
            </a:pPr>
            <a:r>
              <a:rPr lang="en-US" sz="81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Live, Oct 11 2026 · real-time Kalshi stream: first buzz ~5 s after the market moves</a:t>
            </a:r>
            <a:endParaRPr sz="715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/mnt/data/kalshi_knows_rebuilt/assets/06_live_head_start.png" id="87" name="Google Shape;87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3232" y="2295144"/>
            <a:ext cx="10497312" cy="3401568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TextBox 87"/>
          <p:cNvSpPr txBox="1"/>
          <p:nvPr/>
        </p:nvSpPr>
        <p:spPr>
          <a:xfrm>
            <a:off x="301752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QUESTION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84810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VIDEO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67868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HOW IT WORKS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50926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ACCURACY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3984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1">
                <a:solidFill>
                  <a:srgbClr val="EDE8DF"/>
                </a:solidFill>
                <a:latin typeface="Helvetica Neue"/>
              </a:rPr>
              <a:t>SPEED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339840" y="6382512"/>
            <a:ext cx="664464" cy="32004"/>
          </a:xfrm>
          <a:prstGeom prst="rect">
            <a:avLst/>
          </a:prstGeom>
          <a:solidFill>
            <a:srgbClr val="FF4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17042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LIVE DEMO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00100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MARKET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83158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EXPANSION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66216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BUSINESS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49274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NEXT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090B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"/>
          <p:cNvSpPr txBox="1"/>
          <p:nvPr/>
        </p:nvSpPr>
        <p:spPr>
          <a:xfrm>
            <a:off x="594360" y="292608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 /   LIVE DEMO</a:t>
            </a:r>
            <a:endParaRPr/>
          </a:p>
        </p:txBody>
      </p:sp>
      <p:sp>
        <p:nvSpPr>
          <p:cNvPr id="94" name="Google Shape;94;p5"/>
          <p:cNvSpPr txBox="1"/>
          <p:nvPr/>
        </p:nvSpPr>
        <p:spPr>
          <a:xfrm>
            <a:off x="594360" y="941832"/>
            <a:ext cx="10972800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LIVE: my phone + kalshi-knows.pages.dev</a:t>
            </a:r>
            <a:endParaRPr/>
          </a:p>
        </p:txBody>
      </p:sp>
      <p:sp>
        <p:nvSpPr>
          <p:cNvPr id="95" name="Google Shape;95;p5"/>
          <p:cNvSpPr txBox="1"/>
          <p:nvPr/>
        </p:nvSpPr>
        <p:spPr>
          <a:xfrm>
            <a:off x="612648" y="1938528"/>
            <a:ext cx="100584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 board → phone buzz → Receipts → Picks page → Auto-bettor on Kalshi's demo exchange</a:t>
            </a:r>
            <a:endParaRPr/>
          </a:p>
        </p:txBody>
      </p:sp>
      <p:sp>
        <p:nvSpPr>
          <p:cNvPr id="96" name="Google Shape;96;p5"/>
          <p:cNvSpPr txBox="1"/>
          <p:nvPr/>
        </p:nvSpPr>
        <p:spPr>
          <a:xfrm>
            <a:off x="777240" y="2743200"/>
            <a:ext cx="9144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06</a:t>
            </a:r>
            <a:endParaRPr/>
          </a:p>
        </p:txBody>
      </p:sp>
      <p:sp>
        <p:nvSpPr>
          <p:cNvPr id="97" name="Google Shape;97;p5"/>
          <p:cNvSpPr txBox="1"/>
          <p:nvPr/>
        </p:nvSpPr>
        <p:spPr>
          <a:xfrm>
            <a:off x="1572768" y="2743200"/>
            <a:ext cx="21031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WATCH</a:t>
            </a:r>
            <a:endParaRPr/>
          </a:p>
        </p:txBody>
      </p:sp>
      <p:sp>
        <p:nvSpPr>
          <p:cNvPr id="98" name="Google Shape;98;p5"/>
          <p:cNvSpPr txBox="1"/>
          <p:nvPr/>
        </p:nvSpPr>
        <p:spPr>
          <a:xfrm>
            <a:off x="3703320" y="2743200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 Kalshi prices update</a:t>
            </a:r>
            <a:endParaRPr/>
          </a:p>
        </p:txBody>
      </p:sp>
      <p:sp>
        <p:nvSpPr>
          <p:cNvPr id="99" name="Google Shape;99;p5"/>
          <p:cNvSpPr txBox="1"/>
          <p:nvPr/>
        </p:nvSpPr>
        <p:spPr>
          <a:xfrm>
            <a:off x="777240" y="3547872"/>
            <a:ext cx="9144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06</a:t>
            </a:r>
            <a:endParaRPr/>
          </a:p>
        </p:txBody>
      </p:sp>
      <p:sp>
        <p:nvSpPr>
          <p:cNvPr id="100" name="Google Shape;100;p5"/>
          <p:cNvSpPr txBox="1"/>
          <p:nvPr/>
        </p:nvSpPr>
        <p:spPr>
          <a:xfrm>
            <a:off x="1572768" y="3547872"/>
            <a:ext cx="21031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DETECT</a:t>
            </a:r>
            <a:endParaRPr/>
          </a:p>
        </p:txBody>
      </p:sp>
      <p:sp>
        <p:nvSpPr>
          <p:cNvPr id="101" name="Google Shape;101;p5"/>
          <p:cNvSpPr txBox="1"/>
          <p:nvPr/>
        </p:nvSpPr>
        <p:spPr>
          <a:xfrm>
            <a:off x="3703320" y="3547872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The model flags a jump and predicts the play</a:t>
            </a:r>
            <a:endParaRPr/>
          </a:p>
        </p:txBody>
      </p:sp>
      <p:sp>
        <p:nvSpPr>
          <p:cNvPr id="102" name="Google Shape;102;p5"/>
          <p:cNvSpPr txBox="1"/>
          <p:nvPr/>
        </p:nvSpPr>
        <p:spPr>
          <a:xfrm>
            <a:off x="777240" y="4352544"/>
            <a:ext cx="9144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06</a:t>
            </a:r>
            <a:endParaRPr/>
          </a:p>
        </p:txBody>
      </p:sp>
      <p:sp>
        <p:nvSpPr>
          <p:cNvPr id="103" name="Google Shape;103;p5"/>
          <p:cNvSpPr txBox="1"/>
          <p:nvPr/>
        </p:nvSpPr>
        <p:spPr>
          <a:xfrm>
            <a:off x="1572768" y="4352544"/>
            <a:ext cx="21031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ORDER</a:t>
            </a:r>
            <a:endParaRPr/>
          </a:p>
        </p:txBody>
      </p:sp>
      <p:sp>
        <p:nvSpPr>
          <p:cNvPr id="104" name="Google Shape;104;p5"/>
          <p:cNvSpPr txBox="1"/>
          <p:nvPr/>
        </p:nvSpPr>
        <p:spPr>
          <a:xfrm>
            <a:off x="3703320" y="4352544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Our auto-bettor submits a play-money order through Kalshi’s API</a:t>
            </a:r>
            <a:endParaRPr/>
          </a:p>
        </p:txBody>
      </p:sp>
      <p:sp>
        <p:nvSpPr>
          <p:cNvPr id="105" name="Google Shape;105;p5"/>
          <p:cNvSpPr txBox="1"/>
          <p:nvPr/>
        </p:nvSpPr>
        <p:spPr>
          <a:xfrm>
            <a:off x="777240" y="5157216"/>
            <a:ext cx="9144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06</a:t>
            </a:r>
            <a:endParaRPr/>
          </a:p>
        </p:txBody>
      </p:sp>
      <p:sp>
        <p:nvSpPr>
          <p:cNvPr id="106" name="Google Shape;106;p5"/>
          <p:cNvSpPr txBox="1"/>
          <p:nvPr/>
        </p:nvSpPr>
        <p:spPr>
          <a:xfrm>
            <a:off x="1572768" y="5157216"/>
            <a:ext cx="21031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CHECK</a:t>
            </a:r>
            <a:endParaRPr/>
          </a:p>
        </p:txBody>
      </p:sp>
      <p:sp>
        <p:nvSpPr>
          <p:cNvPr id="107" name="Google Shape;107;p5"/>
          <p:cNvSpPr txBox="1"/>
          <p:nvPr/>
        </p:nvSpPr>
        <p:spPr>
          <a:xfrm>
            <a:off x="3703320" y="5157216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We show the alert, order log and what actually happened</a:t>
            </a:r>
            <a:endParaRPr/>
          </a:p>
        </p:txBody>
      </p:sp>
      <p:sp>
        <p:nvSpPr>
          <p:cNvPr id="108" name="Google Shape;108;p5"/>
          <p:cNvSpPr txBox="1"/>
          <p:nvPr/>
        </p:nvSpPr>
        <p:spPr>
          <a:xfrm>
            <a:off x="777240" y="6263640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Demo exchange only · play money · not betting advice · 21+ · 1-800-GAMBLER</a:t>
            </a:r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301752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QUESTION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84810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VIDEO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67868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HOW IT WORKS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50926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ACCURACY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33984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SPEED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17042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1">
                <a:solidFill>
                  <a:srgbClr val="EDE8DF"/>
                </a:solidFill>
                <a:latin typeface="Helvetica Neue"/>
              </a:rPr>
              <a:t>LIVE DEMO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7170420" y="6382512"/>
            <a:ext cx="664464" cy="32004"/>
          </a:xfrm>
          <a:prstGeom prst="rect">
            <a:avLst/>
          </a:prstGeom>
          <a:solidFill>
            <a:srgbClr val="FF4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00100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MARKET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83158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EXPANSION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966216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BUSINESS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49274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NEXT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6"/>
          <p:cNvSpPr/>
          <p:nvPr/>
        </p:nvSpPr>
        <p:spPr>
          <a:xfrm>
            <a:off x="685800" y="347472"/>
            <a:ext cx="329184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5" name="Google Shape;115;p6"/>
          <p:cNvSpPr/>
          <p:nvPr/>
        </p:nvSpPr>
        <p:spPr>
          <a:xfrm>
            <a:off x="685800" y="182880"/>
            <a:ext cx="7772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80"/>
              <a:buFont typeface="Helvetica Neue"/>
              <a:buNone/>
            </a:pPr>
            <a:r>
              <a:rPr b="1" lang="en-US" sz="8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/  MARKET</a:t>
            </a:r>
            <a:endParaRPr sz="8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6" name="Google Shape;116;p6"/>
          <p:cNvSpPr/>
          <p:nvPr/>
        </p:nvSpPr>
        <p:spPr>
          <a:xfrm>
            <a:off x="676656" y="649224"/>
            <a:ext cx="109270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5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2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$53B traded in one month across Kalshi and Polymarket.</a:t>
            </a:r>
            <a:endParaRPr/>
          </a:p>
        </p:txBody>
      </p:sp>
      <p:sp>
        <p:nvSpPr>
          <p:cNvPr id="117" name="Google Shape;117;p6"/>
          <p:cNvSpPr/>
          <p:nvPr/>
        </p:nvSpPr>
        <p:spPr>
          <a:xfrm>
            <a:off x="704088" y="1627632"/>
            <a:ext cx="1080820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July 2026 volume was about 26 times the level a year earlier</a:t>
            </a:r>
            <a:endParaRPr/>
          </a:p>
        </p:txBody>
      </p:sp>
      <p:cxnSp>
        <p:nvCxnSpPr>
          <p:cNvPr id="118" name="Google Shape;118;p6"/>
          <p:cNvCxnSpPr/>
          <p:nvPr/>
        </p:nvCxnSpPr>
        <p:spPr>
          <a:xfrm>
            <a:off x="640080" y="6373368"/>
            <a:ext cx="1092708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/mnt/data/kalshi_knows_rebuilt/assets/vss_mark_dark.png" id="119" name="Google Shape;11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792" y="6432804"/>
            <a:ext cx="283464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6"/>
          <p:cNvSpPr/>
          <p:nvPr/>
        </p:nvSpPr>
        <p:spPr>
          <a:xfrm>
            <a:off x="1005840" y="642366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20"/>
              <a:buFont typeface="Helvetica Neue"/>
              <a:buNone/>
            </a:pPr>
            <a:r>
              <a:rPr b="1" lang="en-US" sz="82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</a:t>
            </a:r>
            <a:endParaRPr sz="82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9" name="Google Shape;129;p6"/>
          <p:cNvSpPr/>
          <p:nvPr/>
        </p:nvSpPr>
        <p:spPr>
          <a:xfrm>
            <a:off x="11320272" y="6423660"/>
            <a:ext cx="21031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07</a:t>
            </a:r>
            <a:endParaRPr/>
          </a:p>
        </p:txBody>
      </p:sp>
      <p:sp>
        <p:nvSpPr>
          <p:cNvPr id="130" name="Google Shape;130;p6"/>
          <p:cNvSpPr/>
          <p:nvPr/>
        </p:nvSpPr>
        <p:spPr>
          <a:xfrm>
            <a:off x="704088" y="6153912"/>
            <a:ext cx="1082649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10"/>
              <a:buFont typeface="Helvetica Neue"/>
              <a:buNone/>
            </a:pPr>
            <a:r>
              <a:rPr lang="en-US" sz="81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Source: Pew Research Center / The Block, Sept 2026</a:t>
            </a:r>
            <a:endParaRPr sz="715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/mnt/data/kalshi_knows_rebuilt/assets/01_market_volume.png" id="131" name="Google Shape;131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7512" y="2084832"/>
            <a:ext cx="10698480" cy="3886200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TextBox 131"/>
          <p:cNvSpPr txBox="1"/>
          <p:nvPr/>
        </p:nvSpPr>
        <p:spPr>
          <a:xfrm>
            <a:off x="301752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QUESTION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84810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VIDEO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67868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HOW IT WORKS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50926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ACCURACY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33984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SPEED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17042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LIVE DEMO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800100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1">
                <a:solidFill>
                  <a:srgbClr val="EDE8DF"/>
                </a:solidFill>
                <a:latin typeface="Helvetica Neue"/>
              </a:rPr>
              <a:t>MARKET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001000" y="6382512"/>
            <a:ext cx="664464" cy="32004"/>
          </a:xfrm>
          <a:prstGeom prst="rect">
            <a:avLst/>
          </a:prstGeom>
          <a:solidFill>
            <a:srgbClr val="FF4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83158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EXPANSION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66216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BUSINESS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49274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NEXT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"/>
          <p:cNvSpPr/>
          <p:nvPr/>
        </p:nvSpPr>
        <p:spPr>
          <a:xfrm>
            <a:off x="685800" y="347472"/>
            <a:ext cx="329184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8" name="Google Shape;138;p7"/>
          <p:cNvSpPr/>
          <p:nvPr/>
        </p:nvSpPr>
        <p:spPr>
          <a:xfrm>
            <a:off x="685800" y="182880"/>
            <a:ext cx="7772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80"/>
              <a:buFont typeface="Helvetica Neue"/>
              <a:buNone/>
            </a:pPr>
            <a:r>
              <a:rPr b="1" lang="en-US" sz="8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/  EXPANSION</a:t>
            </a:r>
            <a:endParaRPr sz="8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9" name="Google Shape;139;p7"/>
          <p:cNvSpPr/>
          <p:nvPr/>
        </p:nvSpPr>
        <p:spPr>
          <a:xfrm>
            <a:off x="676656" y="649224"/>
            <a:ext cx="109270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5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The same approach could work far beyond football.</a:t>
            </a:r>
            <a:endParaRPr/>
          </a:p>
        </p:txBody>
      </p:sp>
      <p:sp>
        <p:nvSpPr>
          <p:cNvPr id="140" name="Google Shape;140;p7"/>
          <p:cNvSpPr/>
          <p:nvPr/>
        </p:nvSpPr>
        <p:spPr>
          <a:xfrm>
            <a:off x="704088" y="1627632"/>
            <a:ext cx="1080820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The signal is a price move. The hard part is finding reliable evidence for what caused it</a:t>
            </a:r>
            <a:endParaRPr/>
          </a:p>
        </p:txBody>
      </p:sp>
      <p:cxnSp>
        <p:nvCxnSpPr>
          <p:cNvPr id="141" name="Google Shape;141;p7"/>
          <p:cNvCxnSpPr/>
          <p:nvPr/>
        </p:nvCxnSpPr>
        <p:spPr>
          <a:xfrm>
            <a:off x="640080" y="6373368"/>
            <a:ext cx="1092708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/mnt/data/kalshi_knows_rebuilt/assets/vss_mark_dark.png" id="142" name="Google Shape;142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792" y="6432804"/>
            <a:ext cx="283464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7"/>
          <p:cNvSpPr/>
          <p:nvPr/>
        </p:nvSpPr>
        <p:spPr>
          <a:xfrm>
            <a:off x="1005840" y="642366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20"/>
              <a:buFont typeface="Helvetica Neue"/>
              <a:buNone/>
            </a:pPr>
            <a:r>
              <a:rPr b="1" lang="en-US" sz="82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</a:t>
            </a:r>
            <a:endParaRPr sz="82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2" name="Google Shape;152;p7"/>
          <p:cNvSpPr/>
          <p:nvPr/>
        </p:nvSpPr>
        <p:spPr>
          <a:xfrm>
            <a:off x="11320272" y="6423660"/>
            <a:ext cx="21031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08</a:t>
            </a:r>
            <a:endParaRPr/>
          </a:p>
        </p:txBody>
      </p:sp>
      <p:sp>
        <p:nvSpPr>
          <p:cNvPr id="153" name="Google Shape;153;p7"/>
          <p:cNvSpPr/>
          <p:nvPr/>
        </p:nvSpPr>
        <p:spPr>
          <a:xfrm>
            <a:off x="704088" y="6153912"/>
            <a:ext cx="1082649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10"/>
              <a:buFont typeface="Helvetica Neue"/>
              <a:buNone/>
            </a:pPr>
            <a:r>
              <a:rPr lang="en-US" sz="81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One engine, every market category</a:t>
            </a:r>
            <a:endParaRPr sz="715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4" name="Google Shape;154;p7"/>
          <p:cNvSpPr/>
          <p:nvPr/>
        </p:nvSpPr>
        <p:spPr>
          <a:xfrm>
            <a:off x="832104" y="2112264"/>
            <a:ext cx="20116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CATEGORY</a:t>
            </a:r>
            <a:endParaRPr/>
          </a:p>
        </p:txBody>
      </p:sp>
      <p:sp>
        <p:nvSpPr>
          <p:cNvPr id="155" name="Google Shape;155;p7"/>
          <p:cNvSpPr/>
          <p:nvPr/>
        </p:nvSpPr>
        <p:spPr>
          <a:xfrm>
            <a:off x="2770632" y="2112264"/>
            <a:ext cx="2889504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WHAT WE CHECK</a:t>
            </a:r>
            <a:endParaRPr/>
          </a:p>
        </p:txBody>
      </p:sp>
      <p:sp>
        <p:nvSpPr>
          <p:cNvPr id="156" name="Google Shape;156;p7"/>
          <p:cNvSpPr/>
          <p:nvPr/>
        </p:nvSpPr>
        <p:spPr>
          <a:xfrm>
            <a:off x="5715000" y="2112264"/>
            <a:ext cx="2880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WHAT USERS GET</a:t>
            </a:r>
            <a:endParaRPr/>
          </a:p>
        </p:txBody>
      </p:sp>
      <p:sp>
        <p:nvSpPr>
          <p:cNvPr id="157" name="Google Shape;157;p7"/>
          <p:cNvSpPr/>
          <p:nvPr/>
        </p:nvSpPr>
        <p:spPr>
          <a:xfrm>
            <a:off x="8759952" y="2112264"/>
            <a:ext cx="2468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WHO WOULD USE IT</a:t>
            </a:r>
            <a:endParaRPr/>
          </a:p>
        </p:txBody>
      </p:sp>
      <p:cxnSp>
        <p:nvCxnSpPr>
          <p:cNvPr id="158" name="Google Shape;158;p7"/>
          <p:cNvCxnSpPr/>
          <p:nvPr/>
        </p:nvCxnSpPr>
        <p:spPr>
          <a:xfrm>
            <a:off x="813816" y="2505456"/>
            <a:ext cx="1051560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9" name="Google Shape;159;p7"/>
          <p:cNvSpPr/>
          <p:nvPr/>
        </p:nvSpPr>
        <p:spPr>
          <a:xfrm>
            <a:off x="832104" y="2578608"/>
            <a:ext cx="184708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1200"/>
              <a:buFont typeface="Helvetica Neue"/>
              <a:buNone/>
            </a:pPr>
            <a:r>
              <a:rPr b="1" lang="en-US" sz="12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SPORTS</a:t>
            </a:r>
            <a:endParaRPr sz="12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0" name="Google Shape;160;p7"/>
          <p:cNvSpPr/>
          <p:nvPr/>
        </p:nvSpPr>
        <p:spPr>
          <a:xfrm>
            <a:off x="2770632" y="2578608"/>
            <a:ext cx="2743200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 play-by-play</a:t>
            </a:r>
            <a:endParaRPr/>
          </a:p>
        </p:txBody>
      </p:sp>
      <p:sp>
        <p:nvSpPr>
          <p:cNvPr id="161" name="Google Shape;161;p7"/>
          <p:cNvSpPr/>
          <p:nvPr/>
        </p:nvSpPr>
        <p:spPr>
          <a:xfrm>
            <a:off x="5705856" y="2578608"/>
            <a:ext cx="2816352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Alerts before replays</a:t>
            </a:r>
            <a:endParaRPr/>
          </a:p>
        </p:txBody>
      </p:sp>
      <p:sp>
        <p:nvSpPr>
          <p:cNvPr id="162" name="Google Shape;162;p7"/>
          <p:cNvSpPr/>
          <p:nvPr/>
        </p:nvSpPr>
        <p:spPr>
          <a:xfrm>
            <a:off x="8759952" y="2578608"/>
            <a:ext cx="248716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Fans and viewers</a:t>
            </a:r>
            <a:endParaRPr/>
          </a:p>
        </p:txBody>
      </p:sp>
      <p:cxnSp>
        <p:nvCxnSpPr>
          <p:cNvPr id="163" name="Google Shape;163;p7"/>
          <p:cNvCxnSpPr/>
          <p:nvPr/>
        </p:nvCxnSpPr>
        <p:spPr>
          <a:xfrm>
            <a:off x="813816" y="3090672"/>
            <a:ext cx="1051560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4" name="Google Shape;164;p7"/>
          <p:cNvSpPr/>
          <p:nvPr/>
        </p:nvSpPr>
        <p:spPr>
          <a:xfrm>
            <a:off x="832104" y="3163824"/>
            <a:ext cx="184708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1200"/>
              <a:buFont typeface="Helvetica Neue"/>
              <a:buNone/>
            </a:pPr>
            <a:r>
              <a:rPr b="1" lang="en-US" sz="12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ECONOMICS</a:t>
            </a:r>
            <a:endParaRPr sz="12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5" name="Google Shape;165;p7"/>
          <p:cNvSpPr/>
          <p:nvPr/>
        </p:nvSpPr>
        <p:spPr>
          <a:xfrm>
            <a:off x="2770632" y="3163824"/>
            <a:ext cx="2743200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Economic releases</a:t>
            </a:r>
            <a:endParaRPr/>
          </a:p>
        </p:txBody>
      </p:sp>
      <p:sp>
        <p:nvSpPr>
          <p:cNvPr id="166" name="Google Shape;166;p7"/>
          <p:cNvSpPr/>
          <p:nvPr/>
        </p:nvSpPr>
        <p:spPr>
          <a:xfrm>
            <a:off x="5705856" y="3163824"/>
            <a:ext cx="2816352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CPI / rate change alerts</a:t>
            </a:r>
            <a:endParaRPr/>
          </a:p>
        </p:txBody>
      </p:sp>
      <p:sp>
        <p:nvSpPr>
          <p:cNvPr id="167" name="Google Shape;167;p7"/>
          <p:cNvSpPr/>
          <p:nvPr/>
        </p:nvSpPr>
        <p:spPr>
          <a:xfrm>
            <a:off x="8759952" y="3163824"/>
            <a:ext cx="248716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Analysts</a:t>
            </a:r>
            <a:endParaRPr/>
          </a:p>
        </p:txBody>
      </p:sp>
      <p:cxnSp>
        <p:nvCxnSpPr>
          <p:cNvPr id="168" name="Google Shape;168;p7"/>
          <p:cNvCxnSpPr/>
          <p:nvPr/>
        </p:nvCxnSpPr>
        <p:spPr>
          <a:xfrm>
            <a:off x="813816" y="3675888"/>
            <a:ext cx="1051560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9" name="Google Shape;169;p7"/>
          <p:cNvSpPr/>
          <p:nvPr/>
        </p:nvSpPr>
        <p:spPr>
          <a:xfrm>
            <a:off x="832104" y="3749040"/>
            <a:ext cx="184708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1200"/>
              <a:buFont typeface="Helvetica Neue"/>
              <a:buNone/>
            </a:pPr>
            <a:r>
              <a:rPr b="1" lang="en-US" sz="12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CRYPTO</a:t>
            </a:r>
            <a:endParaRPr sz="12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0" name="Google Shape;170;p7"/>
          <p:cNvSpPr/>
          <p:nvPr/>
        </p:nvSpPr>
        <p:spPr>
          <a:xfrm>
            <a:off x="2770632" y="3749040"/>
            <a:ext cx="2743200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Prices and exchange data</a:t>
            </a:r>
            <a:endParaRPr/>
          </a:p>
        </p:txBody>
      </p:sp>
      <p:sp>
        <p:nvSpPr>
          <p:cNvPr id="171" name="Google Shape;171;p7"/>
          <p:cNvSpPr/>
          <p:nvPr/>
        </p:nvSpPr>
        <p:spPr>
          <a:xfrm>
            <a:off x="5705856" y="3749040"/>
            <a:ext cx="2816352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Crash / spike alerts</a:t>
            </a:r>
            <a:endParaRPr/>
          </a:p>
        </p:txBody>
      </p:sp>
      <p:sp>
        <p:nvSpPr>
          <p:cNvPr id="172" name="Google Shape;172;p7"/>
          <p:cNvSpPr/>
          <p:nvPr/>
        </p:nvSpPr>
        <p:spPr>
          <a:xfrm>
            <a:off x="8759952" y="3749040"/>
            <a:ext cx="248716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Traders</a:t>
            </a:r>
            <a:endParaRPr/>
          </a:p>
        </p:txBody>
      </p:sp>
      <p:cxnSp>
        <p:nvCxnSpPr>
          <p:cNvPr id="173" name="Google Shape;173;p7"/>
          <p:cNvCxnSpPr/>
          <p:nvPr/>
        </p:nvCxnSpPr>
        <p:spPr>
          <a:xfrm>
            <a:off x="813816" y="4261104"/>
            <a:ext cx="1051560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4" name="Google Shape;174;p7"/>
          <p:cNvSpPr/>
          <p:nvPr/>
        </p:nvSpPr>
        <p:spPr>
          <a:xfrm>
            <a:off x="832104" y="4334256"/>
            <a:ext cx="184708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1200"/>
              <a:buFont typeface="Helvetica Neue"/>
              <a:buNone/>
            </a:pPr>
            <a:r>
              <a:rPr b="1" lang="en-US" sz="12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LEGAL / POLICY</a:t>
            </a:r>
            <a:endParaRPr sz="12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5" name="Google Shape;175;p7"/>
          <p:cNvSpPr/>
          <p:nvPr/>
        </p:nvSpPr>
        <p:spPr>
          <a:xfrm>
            <a:off x="2770632" y="4334256"/>
            <a:ext cx="2743200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Court orders and new bills</a:t>
            </a:r>
            <a:endParaRPr/>
          </a:p>
        </p:txBody>
      </p:sp>
      <p:sp>
        <p:nvSpPr>
          <p:cNvPr id="176" name="Google Shape;176;p7"/>
          <p:cNvSpPr/>
          <p:nvPr/>
        </p:nvSpPr>
        <p:spPr>
          <a:xfrm>
            <a:off x="5705856" y="4334256"/>
            <a:ext cx="2816352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Ruling and policy alerts</a:t>
            </a:r>
            <a:endParaRPr/>
          </a:p>
        </p:txBody>
      </p:sp>
      <p:sp>
        <p:nvSpPr>
          <p:cNvPr id="177" name="Google Shape;177;p7"/>
          <p:cNvSpPr/>
          <p:nvPr/>
        </p:nvSpPr>
        <p:spPr>
          <a:xfrm>
            <a:off x="8759952" y="4334256"/>
            <a:ext cx="248716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Legal / policy teams</a:t>
            </a:r>
            <a:endParaRPr/>
          </a:p>
        </p:txBody>
      </p:sp>
      <p:cxnSp>
        <p:nvCxnSpPr>
          <p:cNvPr id="178" name="Google Shape;178;p7"/>
          <p:cNvCxnSpPr/>
          <p:nvPr/>
        </p:nvCxnSpPr>
        <p:spPr>
          <a:xfrm>
            <a:off x="813816" y="4846320"/>
            <a:ext cx="1051560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9" name="Google Shape;179;p7"/>
          <p:cNvSpPr/>
          <p:nvPr/>
        </p:nvSpPr>
        <p:spPr>
          <a:xfrm>
            <a:off x="832104" y="4919472"/>
            <a:ext cx="184708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1200"/>
              <a:buFont typeface="Helvetica Neue"/>
              <a:buNone/>
            </a:pPr>
            <a:r>
              <a:rPr b="1" lang="en-US" sz="12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WEATHER</a:t>
            </a:r>
            <a:endParaRPr sz="12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0" name="Google Shape;180;p7"/>
          <p:cNvSpPr/>
          <p:nvPr/>
        </p:nvSpPr>
        <p:spPr>
          <a:xfrm>
            <a:off x="2770632" y="4919472"/>
            <a:ext cx="2743200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Forecasts and weather data</a:t>
            </a:r>
            <a:endParaRPr/>
          </a:p>
        </p:txBody>
      </p:sp>
      <p:sp>
        <p:nvSpPr>
          <p:cNvPr id="181" name="Google Shape;181;p7"/>
          <p:cNvSpPr/>
          <p:nvPr/>
        </p:nvSpPr>
        <p:spPr>
          <a:xfrm>
            <a:off x="5705856" y="4919472"/>
            <a:ext cx="2816352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Storm and temperature moves</a:t>
            </a:r>
            <a:endParaRPr/>
          </a:p>
        </p:txBody>
      </p:sp>
      <p:sp>
        <p:nvSpPr>
          <p:cNvPr id="182" name="Google Shape;182;p7"/>
          <p:cNvSpPr/>
          <p:nvPr/>
        </p:nvSpPr>
        <p:spPr>
          <a:xfrm>
            <a:off x="8759952" y="4919472"/>
            <a:ext cx="248716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Insurance / operations</a:t>
            </a:r>
            <a:endParaRPr/>
          </a:p>
        </p:txBody>
      </p:sp>
      <p:sp>
        <p:nvSpPr>
          <p:cNvPr id="183" name="TextBox 182"/>
          <p:cNvSpPr txBox="1"/>
          <p:nvPr/>
        </p:nvSpPr>
        <p:spPr>
          <a:xfrm>
            <a:off x="301752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QUESTION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84810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VIDEO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467868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HOW IT WORKS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550926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ACCURACY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33984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SPEED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717042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LIVE DEMO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00100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MARKET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883158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1">
                <a:solidFill>
                  <a:srgbClr val="EDE8DF"/>
                </a:solidFill>
                <a:latin typeface="Helvetica Neue"/>
              </a:rPr>
              <a:t>EXPANSION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8831580" y="6382512"/>
            <a:ext cx="664464" cy="32004"/>
          </a:xfrm>
          <a:prstGeom prst="rect">
            <a:avLst/>
          </a:prstGeom>
          <a:solidFill>
            <a:srgbClr val="FF4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966216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BUSINESS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1049274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NEXT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8"/>
          <p:cNvSpPr/>
          <p:nvPr/>
        </p:nvSpPr>
        <p:spPr>
          <a:xfrm>
            <a:off x="685800" y="347472"/>
            <a:ext cx="329184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9" name="Google Shape;189;p8"/>
          <p:cNvSpPr/>
          <p:nvPr/>
        </p:nvSpPr>
        <p:spPr>
          <a:xfrm>
            <a:off x="685800" y="182880"/>
            <a:ext cx="7772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80"/>
              <a:buFont typeface="Helvetica Neue"/>
              <a:buNone/>
            </a:pPr>
            <a:r>
              <a:rPr b="1" lang="en-US" sz="8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/  BUSINESS</a:t>
            </a:r>
            <a:endParaRPr sz="8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0" name="Google Shape;190;p8"/>
          <p:cNvSpPr/>
          <p:nvPr/>
        </p:nvSpPr>
        <p:spPr>
          <a:xfrm>
            <a:off x="676656" y="649224"/>
            <a:ext cx="109270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5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2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Start with fans. Then build the tools analysts actually need.</a:t>
            </a:r>
            <a:endParaRPr/>
          </a:p>
        </p:txBody>
      </p:sp>
      <p:sp>
        <p:nvSpPr>
          <p:cNvPr id="191" name="Google Shape;191;p8"/>
          <p:cNvSpPr/>
          <p:nvPr/>
        </p:nvSpPr>
        <p:spPr>
          <a:xfrm>
            <a:off x="704088" y="1627632"/>
            <a:ext cx="1080820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Our picks model returned +10% after fees on 2,237 markets it had never seen ($10 a pick → +$992): about double an elite bettor (~+5%).</a:t>
            </a:r>
            <a:endParaRPr/>
          </a:p>
        </p:txBody>
      </p:sp>
      <p:cxnSp>
        <p:nvCxnSpPr>
          <p:cNvPr id="192" name="Google Shape;192;p8"/>
          <p:cNvCxnSpPr/>
          <p:nvPr/>
        </p:nvCxnSpPr>
        <p:spPr>
          <a:xfrm>
            <a:off x="640080" y="6373368"/>
            <a:ext cx="1092708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/mnt/data/kalshi_knows_rebuilt/assets/vss_mark_dark.png" id="193" name="Google Shape;193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792" y="6432804"/>
            <a:ext cx="283464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8"/>
          <p:cNvSpPr/>
          <p:nvPr/>
        </p:nvSpPr>
        <p:spPr>
          <a:xfrm>
            <a:off x="1005840" y="642366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20"/>
              <a:buFont typeface="Helvetica Neue"/>
              <a:buNone/>
            </a:pPr>
            <a:r>
              <a:rPr b="1" lang="en-US" sz="82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</a:t>
            </a:r>
            <a:endParaRPr sz="82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3" name="Google Shape;203;p8"/>
          <p:cNvSpPr/>
          <p:nvPr/>
        </p:nvSpPr>
        <p:spPr>
          <a:xfrm>
            <a:off x="11320272" y="6423660"/>
            <a:ext cx="21031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09</a:t>
            </a:r>
            <a:endParaRPr/>
          </a:p>
        </p:txBody>
      </p:sp>
      <p:sp>
        <p:nvSpPr>
          <p:cNvPr id="204" name="Google Shape;204;p8"/>
          <p:cNvSpPr/>
          <p:nvPr/>
        </p:nvSpPr>
        <p:spPr>
          <a:xfrm>
            <a:off x="704088" y="6153912"/>
            <a:ext cx="1082649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10"/>
              <a:buFont typeface="Helvetica Neue"/>
              <a:buNone/>
            </a:pPr>
            <a:r>
              <a:rPr lang="en-US" sz="81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Free alerts → Pro ~$15/mo (picks + auto-bet rules) → B2B data/API · Not betting advice · 21+ · 1-800-GAMBLER</a:t>
            </a:r>
            <a:endParaRPr sz="715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5" name="Google Shape;205;p8"/>
          <p:cNvSpPr/>
          <p:nvPr/>
        </p:nvSpPr>
        <p:spPr>
          <a:xfrm>
            <a:off x="777240" y="2523744"/>
            <a:ext cx="3200400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6" name="Google Shape;206;p8"/>
          <p:cNvSpPr/>
          <p:nvPr/>
        </p:nvSpPr>
        <p:spPr>
          <a:xfrm>
            <a:off x="777240" y="2688336"/>
            <a:ext cx="32004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01  SPORTS FANS</a:t>
            </a:r>
            <a:endParaRPr/>
          </a:p>
        </p:txBody>
      </p:sp>
      <p:sp>
        <p:nvSpPr>
          <p:cNvPr id="207" name="Google Shape;207;p8"/>
          <p:cNvSpPr/>
          <p:nvPr/>
        </p:nvSpPr>
        <p:spPr>
          <a:xfrm>
            <a:off x="777240" y="3136392"/>
            <a:ext cx="3136392" cy="9875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Know before the replay</a:t>
            </a:r>
            <a:endParaRPr/>
          </a:p>
        </p:txBody>
      </p:sp>
      <p:sp>
        <p:nvSpPr>
          <p:cNvPr id="208" name="Google Shape;208;p8"/>
          <p:cNvSpPr/>
          <p:nvPr/>
        </p:nvSpPr>
        <p:spPr>
          <a:xfrm>
            <a:off x="777240" y="4325112"/>
            <a:ext cx="3136392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 alerts, replays and a record of which calls were right</a:t>
            </a:r>
            <a:endParaRPr/>
          </a:p>
        </p:txBody>
      </p:sp>
      <p:sp>
        <p:nvSpPr>
          <p:cNvPr id="209" name="Google Shape;209;p8"/>
          <p:cNvSpPr/>
          <p:nvPr/>
        </p:nvSpPr>
        <p:spPr>
          <a:xfrm>
            <a:off x="777240" y="5404104"/>
            <a:ext cx="314553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Start with fan communities and watch parties</a:t>
            </a:r>
            <a:endParaRPr/>
          </a:p>
        </p:txBody>
      </p:sp>
      <p:sp>
        <p:nvSpPr>
          <p:cNvPr id="210" name="Google Shape;210;p8"/>
          <p:cNvSpPr/>
          <p:nvPr/>
        </p:nvSpPr>
        <p:spPr>
          <a:xfrm>
            <a:off x="4507992" y="2523744"/>
            <a:ext cx="3200400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1" name="Google Shape;211;p8"/>
          <p:cNvSpPr/>
          <p:nvPr/>
        </p:nvSpPr>
        <p:spPr>
          <a:xfrm>
            <a:off x="4507992" y="2688336"/>
            <a:ext cx="32004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02  RESEARCHERS</a:t>
            </a:r>
            <a:endParaRPr/>
          </a:p>
        </p:txBody>
      </p:sp>
      <p:sp>
        <p:nvSpPr>
          <p:cNvPr id="212" name="Google Shape;212;p8"/>
          <p:cNvSpPr/>
          <p:nvPr/>
        </p:nvSpPr>
        <p:spPr>
          <a:xfrm>
            <a:off x="4507992" y="3136392"/>
            <a:ext cx="3136392" cy="9875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See why prices moved</a:t>
            </a:r>
            <a:endParaRPr/>
          </a:p>
        </p:txBody>
      </p:sp>
      <p:sp>
        <p:nvSpPr>
          <p:cNvPr id="213" name="Google Shape;213;p8"/>
          <p:cNvSpPr/>
          <p:nvPr/>
        </p:nvSpPr>
        <p:spPr>
          <a:xfrm>
            <a:off x="4507992" y="4325112"/>
            <a:ext cx="3136392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Search past price swings and compare them with the actual news</a:t>
            </a:r>
            <a:endParaRPr/>
          </a:p>
        </p:txBody>
      </p:sp>
      <p:sp>
        <p:nvSpPr>
          <p:cNvPr id="214" name="Google Shape;214;p8"/>
          <p:cNvSpPr/>
          <p:nvPr/>
        </p:nvSpPr>
        <p:spPr>
          <a:xfrm>
            <a:off x="4507992" y="5404104"/>
            <a:ext cx="314553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Test whether teams will pay for historical data</a:t>
            </a:r>
            <a:endParaRPr/>
          </a:p>
        </p:txBody>
      </p:sp>
      <p:sp>
        <p:nvSpPr>
          <p:cNvPr id="215" name="Google Shape;215;p8"/>
          <p:cNvSpPr/>
          <p:nvPr/>
        </p:nvSpPr>
        <p:spPr>
          <a:xfrm>
            <a:off x="8229600" y="2523744"/>
            <a:ext cx="3200400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6" name="Google Shape;216;p8"/>
          <p:cNvSpPr/>
          <p:nvPr/>
        </p:nvSpPr>
        <p:spPr>
          <a:xfrm>
            <a:off x="8229600" y="2688336"/>
            <a:ext cx="32004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03  MARKET TEAMS</a:t>
            </a:r>
            <a:endParaRPr/>
          </a:p>
        </p:txBody>
      </p:sp>
      <p:sp>
        <p:nvSpPr>
          <p:cNvPr id="217" name="Google Shape;217;p8"/>
          <p:cNvSpPr/>
          <p:nvPr/>
        </p:nvSpPr>
        <p:spPr>
          <a:xfrm>
            <a:off x="8229600" y="3136392"/>
            <a:ext cx="3136392" cy="9875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Watch many markets</a:t>
            </a:r>
            <a:endParaRPr/>
          </a:p>
        </p:txBody>
      </p:sp>
      <p:sp>
        <p:nvSpPr>
          <p:cNvPr id="218" name="Google Shape;218;p8"/>
          <p:cNvSpPr/>
          <p:nvPr/>
        </p:nvSpPr>
        <p:spPr>
          <a:xfrm>
            <a:off x="8229600" y="4325112"/>
            <a:ext cx="3136392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Flag unusual activity and pull market history through an API</a:t>
            </a:r>
            <a:endParaRPr/>
          </a:p>
        </p:txBody>
      </p:sp>
      <p:sp>
        <p:nvSpPr>
          <p:cNvPr id="219" name="Google Shape;219;p8"/>
          <p:cNvSpPr/>
          <p:nvPr/>
        </p:nvSpPr>
        <p:spPr>
          <a:xfrm>
            <a:off x="8229600" y="5404104"/>
            <a:ext cx="314553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Talk to trading firms and exchanges before building this</a:t>
            </a:r>
            <a:endParaRPr/>
          </a:p>
        </p:txBody>
      </p:sp>
      <p:sp>
        <p:nvSpPr>
          <p:cNvPr id="220" name="TextBox 219"/>
          <p:cNvSpPr txBox="1"/>
          <p:nvPr/>
        </p:nvSpPr>
        <p:spPr>
          <a:xfrm>
            <a:off x="301752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QUESTION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384810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VIDEO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467868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HOW IT WORKS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550926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ACCURACY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633984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SPEED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17042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LIVE DEMO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800100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MARKET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883158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EXPANSION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966216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1">
                <a:solidFill>
                  <a:srgbClr val="EDE8DF"/>
                </a:solidFill>
                <a:latin typeface="Helvetica Neue"/>
              </a:rPr>
              <a:t>BUSINESS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9662160" y="6382512"/>
            <a:ext cx="664464" cy="32004"/>
          </a:xfrm>
          <a:prstGeom prst="rect">
            <a:avLst/>
          </a:prstGeom>
          <a:solidFill>
            <a:srgbClr val="FF4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1049274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NEXT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9"/>
          <p:cNvSpPr/>
          <p:nvPr/>
        </p:nvSpPr>
        <p:spPr>
          <a:xfrm>
            <a:off x="685800" y="347472"/>
            <a:ext cx="329184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6" name="Google Shape;226;p9"/>
          <p:cNvSpPr/>
          <p:nvPr/>
        </p:nvSpPr>
        <p:spPr>
          <a:xfrm>
            <a:off x="685800" y="182880"/>
            <a:ext cx="7772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80"/>
              <a:buFont typeface="Helvetica Neue"/>
              <a:buNone/>
            </a:pPr>
            <a:r>
              <a:rPr b="1" lang="en-US" sz="8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/  NEXT</a:t>
            </a:r>
            <a:endParaRPr sz="8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7" name="Google Shape;227;p9"/>
          <p:cNvSpPr/>
          <p:nvPr/>
        </p:nvSpPr>
        <p:spPr>
          <a:xfrm>
            <a:off x="676656" y="649224"/>
            <a:ext cx="109270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5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Next: every market, a decade of data, RL on profit.</a:t>
            </a:r>
            <a:endParaRPr/>
          </a:p>
        </p:txBody>
      </p:sp>
      <p:sp>
        <p:nvSpPr>
          <p:cNvPr id="228" name="Google Shape;228;p9"/>
          <p:cNvSpPr/>
          <p:nvPr/>
        </p:nvSpPr>
        <p:spPr>
          <a:xfrm>
            <a:off x="704088" y="1627632"/>
            <a:ext cx="1080820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Train on 4.36M+ settled markets (Kalshi + Polymarket) with reinforcement learning; today we were limited by compute and training time</a:t>
            </a:r>
            <a:endParaRPr/>
          </a:p>
        </p:txBody>
      </p:sp>
      <p:cxnSp>
        <p:nvCxnSpPr>
          <p:cNvPr id="229" name="Google Shape;229;p9"/>
          <p:cNvCxnSpPr/>
          <p:nvPr/>
        </p:nvCxnSpPr>
        <p:spPr>
          <a:xfrm>
            <a:off x="640080" y="6373368"/>
            <a:ext cx="1092708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/mnt/data/kalshi_knows_rebuilt/assets/vss_mark_dark.png" id="230" name="Google Shape;230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792" y="6432804"/>
            <a:ext cx="283464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9"/>
          <p:cNvSpPr/>
          <p:nvPr/>
        </p:nvSpPr>
        <p:spPr>
          <a:xfrm>
            <a:off x="1005840" y="642366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20"/>
              <a:buFont typeface="Helvetica Neue"/>
              <a:buNone/>
            </a:pPr>
            <a:r>
              <a:rPr b="1" lang="en-US" sz="82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</a:t>
            </a:r>
            <a:endParaRPr sz="82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0" name="Google Shape;240;p9"/>
          <p:cNvSpPr/>
          <p:nvPr/>
        </p:nvSpPr>
        <p:spPr>
          <a:xfrm>
            <a:off x="11320272" y="6423660"/>
            <a:ext cx="21031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10</a:t>
            </a:r>
            <a:endParaRPr/>
          </a:p>
        </p:txBody>
      </p:sp>
      <p:sp>
        <p:nvSpPr>
          <p:cNvPr id="241" name="Google Shape;241;p9"/>
          <p:cNvSpPr/>
          <p:nvPr/>
        </p:nvSpPr>
        <p:spPr>
          <a:xfrm>
            <a:off x="704088" y="6153912"/>
            <a:ext cx="1082649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10"/>
              <a:buFont typeface="Helvetica Neue"/>
              <a:buNone/>
            </a:pPr>
            <a:r>
              <a:rPr lang="en-US" sz="81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Public data only · Not betting advice · 21+ · Gambling problem? 1-800-GAMBLER</a:t>
            </a:r>
            <a:endParaRPr sz="715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2" name="Google Shape;242;p9"/>
          <p:cNvSpPr/>
          <p:nvPr/>
        </p:nvSpPr>
        <p:spPr>
          <a:xfrm>
            <a:off x="786384" y="2459736"/>
            <a:ext cx="3337560" cy="64008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3" name="Google Shape;243;p9"/>
          <p:cNvSpPr/>
          <p:nvPr/>
        </p:nvSpPr>
        <p:spPr>
          <a:xfrm>
            <a:off x="786384" y="2697480"/>
            <a:ext cx="323697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NEXT  /  RL (GRPO) ON A GPU</a:t>
            </a:r>
            <a:endParaRPr/>
          </a:p>
        </p:txBody>
      </p:sp>
      <p:sp>
        <p:nvSpPr>
          <p:cNvPr id="244" name="Google Shape;244;p9"/>
          <p:cNvSpPr/>
          <p:nvPr/>
        </p:nvSpPr>
        <p:spPr>
          <a:xfrm>
            <a:off x="786384" y="3209544"/>
            <a:ext cx="3255264" cy="9052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Reinforcement learning with a profit reward</a:t>
            </a:r>
            <a:endParaRPr/>
          </a:p>
        </p:txBody>
      </p:sp>
      <p:sp>
        <p:nvSpPr>
          <p:cNvPr id="245" name="Google Shape;245;p9"/>
          <p:cNvSpPr/>
          <p:nvPr/>
        </p:nvSpPr>
        <p:spPr>
          <a:xfrm>
            <a:off x="786384" y="4361688"/>
            <a:ext cx="3200400" cy="12070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RL pipeline built and running on GPU: 2,634 real NFL betting moments, reward = profit after fees</a:t>
            </a: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4498848" y="2459736"/>
            <a:ext cx="3337560" cy="64008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7" name="Google Shape;247;p9"/>
          <p:cNvSpPr/>
          <p:nvPr/>
        </p:nvSpPr>
        <p:spPr>
          <a:xfrm>
            <a:off x="4498848" y="2697480"/>
            <a:ext cx="323697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AFTER THAT  /  1–3 MONTHS</a:t>
            </a:r>
            <a:endParaRPr/>
          </a:p>
        </p:txBody>
      </p:sp>
      <p:sp>
        <p:nvSpPr>
          <p:cNvPr id="248" name="Google Shape;248;p9"/>
          <p:cNvSpPr/>
          <p:nvPr/>
        </p:nvSpPr>
        <p:spPr>
          <a:xfrm>
            <a:off x="4498848" y="3209544"/>
            <a:ext cx="3255264" cy="9052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Make the app useful</a:t>
            </a:r>
            <a:endParaRPr/>
          </a:p>
        </p:txBody>
      </p:sp>
      <p:sp>
        <p:nvSpPr>
          <p:cNvPr id="249" name="Google Shape;249;p9"/>
          <p:cNvSpPr/>
          <p:nvPr/>
        </p:nvSpPr>
        <p:spPr>
          <a:xfrm>
            <a:off x="4498848" y="4361688"/>
            <a:ext cx="3200400" cy="12070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Better alerts and replays, then test with actual users</a:t>
            </a:r>
            <a:endParaRPr/>
          </a:p>
        </p:txBody>
      </p:sp>
      <p:sp>
        <p:nvSpPr>
          <p:cNvPr id="250" name="Google Shape;250;p9"/>
          <p:cNvSpPr/>
          <p:nvPr/>
        </p:nvSpPr>
        <p:spPr>
          <a:xfrm>
            <a:off x="8211312" y="2459736"/>
            <a:ext cx="3337560" cy="64008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51" name="Google Shape;251;p9"/>
          <p:cNvSpPr/>
          <p:nvPr/>
        </p:nvSpPr>
        <p:spPr>
          <a:xfrm>
            <a:off x="8211312" y="2697480"/>
            <a:ext cx="323697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LONGER TERM  /  3–6 MONTHS</a:t>
            </a:r>
            <a:endParaRPr/>
          </a:p>
        </p:txBody>
      </p:sp>
      <p:sp>
        <p:nvSpPr>
          <p:cNvPr id="252" name="Google Shape;252;p9"/>
          <p:cNvSpPr/>
          <p:nvPr/>
        </p:nvSpPr>
        <p:spPr>
          <a:xfrm>
            <a:off x="8211312" y="3209544"/>
            <a:ext cx="3255264" cy="9052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Try another category</a:t>
            </a:r>
            <a:endParaRPr/>
          </a:p>
        </p:txBody>
      </p:sp>
      <p:sp>
        <p:nvSpPr>
          <p:cNvPr id="253" name="Google Shape;253;p9"/>
          <p:cNvSpPr/>
          <p:nvPr/>
        </p:nvSpPr>
        <p:spPr>
          <a:xfrm>
            <a:off x="8211312" y="4361688"/>
            <a:ext cx="3200400" cy="12070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Start with economic or weather releases and compare market reactions</a:t>
            </a:r>
            <a:endParaRPr/>
          </a:p>
        </p:txBody>
      </p:sp>
      <p:sp>
        <p:nvSpPr>
          <p:cNvPr id="254" name="TextBox 253"/>
          <p:cNvSpPr txBox="1"/>
          <p:nvPr/>
        </p:nvSpPr>
        <p:spPr>
          <a:xfrm>
            <a:off x="301752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QUESTION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384810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VIDEO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467868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HOW IT WORKS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550926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ACCURACY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633984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SPEED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717042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LIVE DEMO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800100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MARKET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883158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EXPANSION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966216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BUSINESS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1049274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1">
                <a:solidFill>
                  <a:srgbClr val="EDE8DF"/>
                </a:solidFill>
                <a:latin typeface="Helvetica Neue"/>
              </a:rPr>
              <a:t>NEXT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10492740" y="6382512"/>
            <a:ext cx="664464" cy="32004"/>
          </a:xfrm>
          <a:prstGeom prst="rect">
            <a:avLst/>
          </a:prstGeom>
          <a:solidFill>
            <a:srgbClr val="FF4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2026-10-11T21:29:32Z</dcterms:created>
  <dc:creator>Kalshi Knows · VSS Hackathon</dc:creator>
</cp:coreProperties>
</file>