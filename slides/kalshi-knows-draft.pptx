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 markets know things before you do. We built the layer that reads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Kalshi's price moves about 7 seconds after a play. Your stream shows it 48 to 62 seconds after. Anyone live-betting off a stream is trading against people who already know, and every streaming fan gets spoiled by group chats.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compete with Kalshi. We're the analytics layer on top, starting with retail traders and fans.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today. Every call is timestamped and graded against ESPN, misses included. When we named the play, we were right 4 of 4. Then the Auto page: the same signals drive an agent that places orders on Kalshi's demo exchange, play money, and it works on any market. Also point at the Kalshi vs Polymarket panel under the game tiles: we watch both venues; Kalshi moves first. (Backup: video/kalshi-knows-demo.mp4, or the ledger 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Two-stage model. The 28-season pretraining is the secret sauce: the model beats a smart fan by about 11 points, and without the pretraining it drops to 70%. We audited our own labels, found 15% were wrong, fixed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Tested on games it never saw, against a smart fan and against Claude. Always-'nothing' baseline is 47 to 50% on the audited labels. Named calls at 75%+ confidence were right 77 to 81% of the time. Pre-registered test on today's early games: named calls 8 of 9 (small sample, wide interval). Claude Opus 5.5 head-to-head: 77.3% vs 76.0%, a statistical tie on accuracy, clearly better calibrated, 7 ms per call.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tried hard to find a flaw. The market digests plays in seconds; the only edge is speed, and that's what we sell.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Retail is the wedge, B2B data is the business. Proof it scales past NFL: the cross-market model trained on 4.36M settled Kalshi markets beats the raw market price on an unseen month (2.7% better Brier). Comps: Action Network PRO $24.99/mo, OddsJam $199+/mo.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Kalshi knows. Now you do too.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all model families compared on the same plays (STATS.md section 0). Smart fan 62.8%, XGBoost without pretraining 70.0%, audited-label model 73.8% CV and 75.0% temporal.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named calls at 75%+ confidence were right 76.6% (temporal, 94 calls) to 80.5% (CV, 466 calls) of the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real signed order on Kalshi's demo exchange at 2:05pm, bought 1 YES '49ers win' at $0.39, fee $0.0167. Demo only, no real money. Refresh with results/export_demo.py.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822960"/>
            <a:ext cx="8229600" cy="2011680"/>
          </a:xfrm>
          <a:prstGeom prst="rect">
            <a:avLst/>
          </a:prstGeom>
          <a:noFill/>
        </p:spPr>
        <p:txBody>
          <a:bodyPr wrap="square" anchor="t" lIns="0" rIns="0" tIns="0" bIns="0">
            <a:spAutoFit/>
          </a:bodyPr>
          <a:lstStyle/>
          <a:p>
            <a:pPr algn="l"/>
            <a:r>
              <a:rPr sz="15000" b="1">
                <a:solidFill>
                  <a:srgbClr val="EDE8DF"/>
                </a:solidFill>
                <a:latin typeface="DIN Condensed"/>
              </a:rPr>
              <a:t>KALSHI</a:t>
            </a:r>
          </a:p>
        </p:txBody>
      </p:sp>
      <p:sp>
        <p:nvSpPr>
          <p:cNvPr id="3" name="TextBox 2"/>
          <p:cNvSpPr txBox="1"/>
          <p:nvPr/>
        </p:nvSpPr>
        <p:spPr>
          <a:xfrm>
            <a:off x="548640" y="2377440"/>
            <a:ext cx="8229600" cy="2011680"/>
          </a:xfrm>
          <a:prstGeom prst="rect">
            <a:avLst/>
          </a:prstGeom>
          <a:noFill/>
        </p:spPr>
        <p:txBody>
          <a:bodyPr wrap="square" anchor="t" lIns="0" rIns="0" tIns="0" bIns="0">
            <a:spAutoFit/>
          </a:bodyPr>
          <a:lstStyle/>
          <a:p>
            <a:pPr algn="l"/>
            <a:r>
              <a:rPr sz="15000" b="1">
                <a:solidFill>
                  <a:srgbClr val="FF4D1A"/>
                </a:solidFill>
                <a:latin typeface="DIN Condensed"/>
              </a:rPr>
              <a:t>KNOWS</a:t>
            </a:r>
          </a:p>
        </p:txBody>
      </p:sp>
      <p:sp>
        <p:nvSpPr>
          <p:cNvPr id="4" name="TextBox 3"/>
          <p:cNvSpPr txBox="1"/>
          <p:nvPr/>
        </p:nvSpPr>
        <p:spPr>
          <a:xfrm>
            <a:off x="548640" y="5029200"/>
            <a:ext cx="8229600" cy="457200"/>
          </a:xfrm>
          <a:prstGeom prst="rect">
            <a:avLst/>
          </a:prstGeom>
          <a:noFill/>
        </p:spPr>
        <p:txBody>
          <a:bodyPr wrap="square" anchor="t" lIns="0" rIns="0" tIns="0" bIns="0">
            <a:spAutoFit/>
          </a:bodyPr>
          <a:lstStyle/>
          <a:p>
            <a:pPr algn="l"/>
            <a:r>
              <a:rPr sz="2400" b="0">
                <a:solidFill>
                  <a:srgbClr val="EDE8DF"/>
                </a:solidFill>
                <a:latin typeface="Helvetica Neue"/>
              </a:rPr>
              <a:t>The intelligence layer on top of prediction markets</a:t>
            </a:r>
          </a:p>
        </p:txBody>
      </p:sp>
      <p:sp>
        <p:nvSpPr>
          <p:cNvPr id="5" name="TextBox 4"/>
          <p:cNvSpPr txBox="1"/>
          <p:nvPr/>
        </p:nvSpPr>
        <p:spPr>
          <a:xfrm>
            <a:off x="548640" y="5760720"/>
            <a:ext cx="8229600" cy="365760"/>
          </a:xfrm>
          <a:prstGeom prst="rect">
            <a:avLst/>
          </a:prstGeom>
          <a:noFill/>
        </p:spPr>
        <p:txBody>
          <a:bodyPr wrap="square" anchor="t" lIns="0" rIns="0" tIns="0" bIns="0">
            <a:spAutoFit/>
          </a:bodyPr>
          <a:lstStyle/>
          <a:p>
            <a:pPr algn="l"/>
            <a:r>
              <a:rPr sz="1800" b="0">
                <a:solidFill>
                  <a:srgbClr val="8F8B84"/>
                </a:solidFill>
                <a:latin typeface="Helvetica Neue"/>
              </a:rPr>
              <a:t>Faisal Nabulsi  ·  Kevin Huang  ·  Dugar</a:t>
            </a:r>
          </a:p>
        </p:txBody>
      </p:sp>
      <p:pic>
        <p:nvPicPr>
          <p:cNvPr id="6" name="Picture 5" descr="qr.png"/>
          <p:cNvPicPr>
            <a:picLocks noChangeAspect="1"/>
          </p:cNvPicPr>
          <p:nvPr/>
        </p:nvPicPr>
        <p:blipFill>
          <a:blip r:embed="rId3"/>
          <a:stretch>
            <a:fillRect/>
          </a:stretch>
        </p:blipFill>
        <p:spPr>
          <a:xfrm>
            <a:off x="9692640" y="3566160"/>
            <a:ext cx="1920240" cy="1920240"/>
          </a:xfrm>
          <a:prstGeom prst="rect">
            <a:avLst/>
          </a:prstGeom>
        </p:spPr>
      </p:pic>
      <p:sp>
        <p:nvSpPr>
          <p:cNvPr id="7" name="TextBox 6"/>
          <p:cNvSpPr txBox="1"/>
          <p:nvPr/>
        </p:nvSpPr>
        <p:spPr>
          <a:xfrm>
            <a:off x="9235440" y="5532120"/>
            <a:ext cx="2834640" cy="274320"/>
          </a:xfrm>
          <a:prstGeom prst="rect">
            <a:avLst/>
          </a:prstGeom>
          <a:noFill/>
        </p:spPr>
        <p:txBody>
          <a:bodyPr wrap="square" anchor="t" lIns="0" rIns="0" tIns="0" bIns="0">
            <a:spAutoFit/>
          </a:bodyPr>
          <a:lstStyle/>
          <a:p>
            <a:pPr algn="ctr"/>
            <a:r>
              <a:rPr sz="1200" b="0">
                <a:solidFill>
                  <a:srgbClr val="8F8B84"/>
                </a:solidFill>
                <a:latin typeface="Helvetica Neue"/>
              </a:rPr>
              <a:t>kalshi-knows.pages.dev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THE PROBLEM</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400" b="1">
                <a:solidFill>
                  <a:srgbClr val="EDE8DF"/>
                </a:solidFill>
                <a:latin typeface="DIN Condensed"/>
              </a:rPr>
              <a:t>KALSHI MOVES IN 7 SECONDS. YOUR STREAM TAKES 48 TO 62.</a:t>
            </a:r>
          </a:p>
        </p:txBody>
      </p:sp>
      <p:pic>
        <p:nvPicPr>
          <p:cNvPr id="4" name="Picture 3" descr="a_kalshi_beats_your_stream.png"/>
          <p:cNvPicPr>
            <a:picLocks noChangeAspect="1"/>
          </p:cNvPicPr>
          <p:nvPr/>
        </p:nvPicPr>
        <p:blipFill>
          <a:blip r:embed="rId3"/>
          <a:stretch>
            <a:fillRect/>
          </a:stretch>
        </p:blipFill>
        <p:spPr>
          <a:xfrm>
            <a:off x="548640" y="1828800"/>
            <a:ext cx="7477760" cy="4206240"/>
          </a:xfrm>
          <a:prstGeom prst="rect">
            <a:avLst/>
          </a:prstGeom>
        </p:spPr>
      </p:pic>
      <p:sp>
        <p:nvSpPr>
          <p:cNvPr id="5" name="TextBox 4"/>
          <p:cNvSpPr txBox="1"/>
          <p:nvPr/>
        </p:nvSpPr>
        <p:spPr>
          <a:xfrm>
            <a:off x="8595360" y="2194560"/>
            <a:ext cx="3108960" cy="1341120"/>
          </a:xfrm>
          <a:prstGeom prst="rect">
            <a:avLst/>
          </a:prstGeom>
          <a:noFill/>
        </p:spPr>
        <p:txBody>
          <a:bodyPr wrap="square" anchor="t" lIns="0" rIns="0" tIns="0" bIns="0">
            <a:spAutoFit/>
          </a:bodyPr>
          <a:lstStyle/>
          <a:p>
            <a:pPr algn="l"/>
            <a:r>
              <a:rPr sz="9600" b="1">
                <a:solidFill>
                  <a:srgbClr val="FF4D1A"/>
                </a:solidFill>
                <a:latin typeface="DIN Condensed"/>
              </a:rPr>
              <a:t>7 s</a:t>
            </a:r>
          </a:p>
        </p:txBody>
      </p:sp>
      <p:sp>
        <p:nvSpPr>
          <p:cNvPr id="6" name="TextBox 5"/>
          <p:cNvSpPr txBox="1"/>
          <p:nvPr/>
        </p:nvSpPr>
        <p:spPr>
          <a:xfrm>
            <a:off x="8595360" y="3535680"/>
            <a:ext cx="3108960" cy="822960"/>
          </a:xfrm>
          <a:prstGeom prst="rect">
            <a:avLst/>
          </a:prstGeom>
          <a:noFill/>
        </p:spPr>
        <p:txBody>
          <a:bodyPr wrap="square" anchor="t" lIns="0" rIns="0" tIns="0" bIns="0">
            <a:spAutoFit/>
          </a:bodyPr>
          <a:lstStyle/>
          <a:p>
            <a:pPr algn="l"/>
            <a:r>
              <a:rPr sz="1800" b="0">
                <a:solidFill>
                  <a:srgbClr val="EDE8DF"/>
                </a:solidFill>
                <a:latin typeface="Helvetica Neue"/>
              </a:rPr>
              <a:t>Kalshi price after the play</a:t>
            </a:r>
          </a:p>
        </p:txBody>
      </p:sp>
      <p:sp>
        <p:nvSpPr>
          <p:cNvPr id="7" name="TextBox 6"/>
          <p:cNvSpPr txBox="1"/>
          <p:nvPr/>
        </p:nvSpPr>
        <p:spPr>
          <a:xfrm>
            <a:off x="8595360" y="4206240"/>
            <a:ext cx="3291840" cy="838200"/>
          </a:xfrm>
          <a:prstGeom prst="rect">
            <a:avLst/>
          </a:prstGeom>
          <a:noFill/>
        </p:spPr>
        <p:txBody>
          <a:bodyPr wrap="square" anchor="t" lIns="0" rIns="0" tIns="0" bIns="0">
            <a:spAutoFit/>
          </a:bodyPr>
          <a:lstStyle/>
          <a:p>
            <a:pPr algn="l"/>
            <a:r>
              <a:rPr sz="6000" b="1">
                <a:solidFill>
                  <a:srgbClr val="EDE8DF"/>
                </a:solidFill>
                <a:latin typeface="DIN Condensed"/>
              </a:rPr>
              <a:t>48–62 s</a:t>
            </a:r>
          </a:p>
        </p:txBody>
      </p:sp>
      <p:sp>
        <p:nvSpPr>
          <p:cNvPr id="8" name="TextBox 7"/>
          <p:cNvSpPr txBox="1"/>
          <p:nvPr/>
        </p:nvSpPr>
        <p:spPr>
          <a:xfrm>
            <a:off x="8595360" y="5044440"/>
            <a:ext cx="3291840" cy="822960"/>
          </a:xfrm>
          <a:prstGeom prst="rect">
            <a:avLst/>
          </a:prstGeom>
          <a:noFill/>
        </p:spPr>
        <p:txBody>
          <a:bodyPr wrap="square" anchor="t" lIns="0" rIns="0" tIns="0" bIns="0">
            <a:spAutoFit/>
          </a:bodyPr>
          <a:lstStyle/>
          <a:p>
            <a:pPr algn="l"/>
            <a:r>
              <a:rPr sz="1800" b="0">
                <a:solidFill>
                  <a:srgbClr val="EDE8DF"/>
                </a:solidFill>
                <a:latin typeface="Helvetica Neue"/>
              </a:rPr>
              <a:t>Peacock to NFL+ (antenna 19, cable 38, YouTube TV 53)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WHO IT'S FOR</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800" b="1">
                <a:solidFill>
                  <a:srgbClr val="EDE8DF"/>
                </a:solidFill>
                <a:latin typeface="DIN Condensed"/>
              </a:rPr>
              <a:t>THE ANALYTICS LAYER ON TOP OF KALSHI</a:t>
            </a:r>
          </a:p>
        </p:txBody>
      </p:sp>
      <p:sp>
        <p:nvSpPr>
          <p:cNvPr id="4" name="Rectangle 3"/>
          <p:cNvSpPr/>
          <p:nvPr/>
        </p:nvSpPr>
        <p:spPr>
          <a:xfrm>
            <a:off x="548640" y="2286000"/>
            <a:ext cx="3291840" cy="64008"/>
          </a:xfrm>
          <a:prstGeom prst="rect">
            <a:avLst/>
          </a:prstGeom>
          <a:solidFill>
            <a:srgbClr val="FF4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14600"/>
            <a:ext cx="3474720" cy="822960"/>
          </a:xfrm>
          <a:prstGeom prst="rect">
            <a:avLst/>
          </a:prstGeom>
          <a:noFill/>
        </p:spPr>
        <p:txBody>
          <a:bodyPr wrap="square" anchor="t" lIns="0" rIns="0" tIns="0" bIns="0">
            <a:spAutoFit/>
          </a:bodyPr>
          <a:lstStyle/>
          <a:p>
            <a:pPr algn="l"/>
            <a:r>
              <a:rPr sz="4000" b="1">
                <a:solidFill>
                  <a:srgbClr val="FF4D1A"/>
                </a:solidFill>
                <a:latin typeface="DIN Condensed"/>
              </a:rPr>
              <a:t>RETAIL</a:t>
            </a:r>
          </a:p>
        </p:txBody>
      </p:sp>
      <p:sp>
        <p:nvSpPr>
          <p:cNvPr id="6" name="TextBox 5"/>
          <p:cNvSpPr txBox="1"/>
          <p:nvPr/>
        </p:nvSpPr>
        <p:spPr>
          <a:xfrm>
            <a:off x="548640" y="3429000"/>
            <a:ext cx="3383280" cy="1097280"/>
          </a:xfrm>
          <a:prstGeom prst="rect">
            <a:avLst/>
          </a:prstGeom>
          <a:noFill/>
        </p:spPr>
        <p:txBody>
          <a:bodyPr wrap="square" anchor="t" lIns="0" rIns="0" tIns="0" bIns="0">
            <a:spAutoFit/>
          </a:bodyPr>
          <a:lstStyle/>
          <a:p>
            <a:pPr algn="l"/>
            <a:r>
              <a:rPr sz="2400" b="1">
                <a:solidFill>
                  <a:srgbClr val="EDE8DF"/>
                </a:solidFill>
                <a:latin typeface="Helvetica Neue"/>
              </a:rPr>
              <a:t>Streaming fans and prediction-market traders</a:t>
            </a:r>
          </a:p>
        </p:txBody>
      </p:sp>
      <p:sp>
        <p:nvSpPr>
          <p:cNvPr id="7" name="TextBox 6"/>
          <p:cNvSpPr txBox="1"/>
          <p:nvPr/>
        </p:nvSpPr>
        <p:spPr>
          <a:xfrm>
            <a:off x="548640" y="4572000"/>
            <a:ext cx="3383280" cy="1097280"/>
          </a:xfrm>
          <a:prstGeom prst="rect">
            <a:avLst/>
          </a:prstGeom>
          <a:noFill/>
        </p:spPr>
        <p:txBody>
          <a:bodyPr wrap="square" anchor="t" lIns="0" rIns="0" tIns="0" bIns="0">
            <a:spAutoFit/>
          </a:bodyPr>
          <a:lstStyle/>
          <a:p>
            <a:pPr algn="l"/>
            <a:r>
              <a:rPr sz="1800" b="0">
                <a:solidFill>
                  <a:srgbClr val="8F8B84"/>
                </a:solidFill>
                <a:latin typeface="Helvetica Neue"/>
              </a:rPr>
              <a:t>Spoiler alerts, "market already moved" warnings</a:t>
            </a:r>
          </a:p>
        </p:txBody>
      </p:sp>
      <p:sp>
        <p:nvSpPr>
          <p:cNvPr id="8" name="Rectangle 7"/>
          <p:cNvSpPr/>
          <p:nvPr/>
        </p:nvSpPr>
        <p:spPr>
          <a:xfrm>
            <a:off x="4343400" y="2286000"/>
            <a:ext cx="3291840" cy="64008"/>
          </a:xfrm>
          <a:prstGeom prst="rect">
            <a:avLst/>
          </a:prstGeom>
          <a:solidFill>
            <a:srgbClr val="FF4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2514600"/>
            <a:ext cx="3474720" cy="822960"/>
          </a:xfrm>
          <a:prstGeom prst="rect">
            <a:avLst/>
          </a:prstGeom>
          <a:noFill/>
        </p:spPr>
        <p:txBody>
          <a:bodyPr wrap="square" anchor="t" lIns="0" rIns="0" tIns="0" bIns="0">
            <a:spAutoFit/>
          </a:bodyPr>
          <a:lstStyle/>
          <a:p>
            <a:pPr algn="l"/>
            <a:r>
              <a:rPr sz="4000" b="1">
                <a:solidFill>
                  <a:srgbClr val="FF4D1A"/>
                </a:solidFill>
                <a:latin typeface="DIN Condensed"/>
              </a:rPr>
              <a:t>QUANTS</a:t>
            </a:r>
          </a:p>
        </p:txBody>
      </p:sp>
      <p:sp>
        <p:nvSpPr>
          <p:cNvPr id="10" name="TextBox 9"/>
          <p:cNvSpPr txBox="1"/>
          <p:nvPr/>
        </p:nvSpPr>
        <p:spPr>
          <a:xfrm>
            <a:off x="4343400" y="3429000"/>
            <a:ext cx="3383280" cy="1097280"/>
          </a:xfrm>
          <a:prstGeom prst="rect">
            <a:avLst/>
          </a:prstGeom>
          <a:noFill/>
        </p:spPr>
        <p:txBody>
          <a:bodyPr wrap="square" anchor="t" lIns="0" rIns="0" tIns="0" bIns="0">
            <a:spAutoFit/>
          </a:bodyPr>
          <a:lstStyle/>
          <a:p>
            <a:pPr algn="l"/>
            <a:r>
              <a:rPr sz="2400" b="1">
                <a:solidFill>
                  <a:srgbClr val="EDE8DF"/>
                </a:solidFill>
                <a:latin typeface="Helvetica Neue"/>
              </a:rPr>
              <a:t>Latency and info-flow data</a:t>
            </a:r>
          </a:p>
        </p:txBody>
      </p:sp>
      <p:sp>
        <p:nvSpPr>
          <p:cNvPr id="11" name="TextBox 10"/>
          <p:cNvSpPr txBox="1"/>
          <p:nvPr/>
        </p:nvSpPr>
        <p:spPr>
          <a:xfrm>
            <a:off x="4343400" y="4572000"/>
            <a:ext cx="3383280" cy="1097280"/>
          </a:xfrm>
          <a:prstGeom prst="rect">
            <a:avLst/>
          </a:prstGeom>
          <a:noFill/>
        </p:spPr>
        <p:txBody>
          <a:bodyPr wrap="square" anchor="t" lIns="0" rIns="0" tIns="0" bIns="0">
            <a:spAutoFit/>
          </a:bodyPr>
          <a:lstStyle/>
          <a:p>
            <a:pPr algn="l"/>
            <a:r>
              <a:rPr sz="1800" b="0">
                <a:solidFill>
                  <a:srgbClr val="8F8B84"/>
                </a:solidFill>
                <a:latin typeface="Helvetica Neue"/>
              </a:rPr>
              <a:t>Who learns what, and when</a:t>
            </a:r>
          </a:p>
        </p:txBody>
      </p:sp>
      <p:sp>
        <p:nvSpPr>
          <p:cNvPr id="12" name="Rectangle 11"/>
          <p:cNvSpPr/>
          <p:nvPr/>
        </p:nvSpPr>
        <p:spPr>
          <a:xfrm>
            <a:off x="8138160" y="2286000"/>
            <a:ext cx="3291840" cy="64008"/>
          </a:xfrm>
          <a:prstGeom prst="rect">
            <a:avLst/>
          </a:prstGeom>
          <a:solidFill>
            <a:srgbClr val="FF4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514600"/>
            <a:ext cx="3474720" cy="822960"/>
          </a:xfrm>
          <a:prstGeom prst="rect">
            <a:avLst/>
          </a:prstGeom>
          <a:noFill/>
        </p:spPr>
        <p:txBody>
          <a:bodyPr wrap="square" anchor="t" lIns="0" rIns="0" tIns="0" bIns="0">
            <a:spAutoFit/>
          </a:bodyPr>
          <a:lstStyle/>
          <a:p>
            <a:pPr algn="l"/>
            <a:r>
              <a:rPr sz="4000" b="1">
                <a:solidFill>
                  <a:srgbClr val="FF4D1A"/>
                </a:solidFill>
                <a:latin typeface="DIN Condensed"/>
              </a:rPr>
              <a:t>EXCHANGES</a:t>
            </a:r>
          </a:p>
        </p:txBody>
      </p:sp>
      <p:sp>
        <p:nvSpPr>
          <p:cNvPr id="14" name="TextBox 13"/>
          <p:cNvSpPr txBox="1"/>
          <p:nvPr/>
        </p:nvSpPr>
        <p:spPr>
          <a:xfrm>
            <a:off x="8138160" y="3429000"/>
            <a:ext cx="3383280" cy="1097280"/>
          </a:xfrm>
          <a:prstGeom prst="rect">
            <a:avLst/>
          </a:prstGeom>
          <a:noFill/>
        </p:spPr>
        <p:txBody>
          <a:bodyPr wrap="square" anchor="t" lIns="0" rIns="0" tIns="0" bIns="0">
            <a:spAutoFit/>
          </a:bodyPr>
          <a:lstStyle/>
          <a:p>
            <a:pPr algn="l"/>
            <a:r>
              <a:rPr sz="2400" b="1">
                <a:solidFill>
                  <a:srgbClr val="EDE8DF"/>
                </a:solidFill>
                <a:latin typeface="Helvetica Neue"/>
              </a:rPr>
              <a:t>Regulators: market-integrity monitoring</a:t>
            </a:r>
          </a:p>
        </p:txBody>
      </p:sp>
      <p:sp>
        <p:nvSpPr>
          <p:cNvPr id="15" name="TextBox 14"/>
          <p:cNvSpPr txBox="1"/>
          <p:nvPr/>
        </p:nvSpPr>
        <p:spPr>
          <a:xfrm>
            <a:off x="8138160" y="4572000"/>
            <a:ext cx="3383280" cy="1097280"/>
          </a:xfrm>
          <a:prstGeom prst="rect">
            <a:avLst/>
          </a:prstGeom>
          <a:noFill/>
        </p:spPr>
        <p:txBody>
          <a:bodyPr wrap="square" anchor="t" lIns="0" rIns="0" tIns="0" bIns="0">
            <a:spAutoFit/>
          </a:bodyPr>
          <a:lstStyle/>
          <a:p>
            <a:pPr algn="l"/>
            <a:r>
              <a:rPr sz="1800" b="0">
                <a:solidFill>
                  <a:srgbClr val="8F8B84"/>
                </a:solidFill>
                <a:latin typeface="Helvetica Neue"/>
              </a:rPr>
              <a:t>See when a price moved before the news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LIVE DEMO</a:t>
            </a:r>
          </a:p>
        </p:txBody>
      </p:sp>
      <p:sp>
        <p:nvSpPr>
          <p:cNvPr id="3" name="TextBox 2"/>
          <p:cNvSpPr txBox="1"/>
          <p:nvPr/>
        </p:nvSpPr>
        <p:spPr>
          <a:xfrm>
            <a:off x="548640" y="1280160"/>
            <a:ext cx="10972800" cy="2926080"/>
          </a:xfrm>
          <a:prstGeom prst="rect">
            <a:avLst/>
          </a:prstGeom>
          <a:noFill/>
        </p:spPr>
        <p:txBody>
          <a:bodyPr wrap="square" anchor="t" lIns="0" rIns="0" tIns="0" bIns="0">
            <a:spAutoFit/>
          </a:bodyPr>
          <a:lstStyle/>
          <a:p>
            <a:pPr algn="l"/>
            <a:r>
              <a:rPr sz="26000" b="1">
                <a:solidFill>
                  <a:srgbClr val="FF4D1A"/>
                </a:solidFill>
                <a:latin typeface="DIN Condensed"/>
              </a:rPr>
              <a:t>LIVE</a:t>
            </a:r>
          </a:p>
        </p:txBody>
      </p:sp>
      <p:sp>
        <p:nvSpPr>
          <p:cNvPr id="4" name="TextBox 3"/>
          <p:cNvSpPr txBox="1"/>
          <p:nvPr/>
        </p:nvSpPr>
        <p:spPr>
          <a:xfrm>
            <a:off x="548640" y="4480560"/>
            <a:ext cx="10972800" cy="548640"/>
          </a:xfrm>
          <a:prstGeom prst="rect">
            <a:avLst/>
          </a:prstGeom>
          <a:noFill/>
        </p:spPr>
        <p:txBody>
          <a:bodyPr wrap="square" anchor="t" lIns="0" rIns="0" tIns="0" bIns="0">
            <a:spAutoFit/>
          </a:bodyPr>
          <a:lstStyle/>
          <a:p>
            <a:pPr algn="l"/>
            <a:r>
              <a:rPr sz="3200" b="0">
                <a:solidFill>
                  <a:srgbClr val="EDE8DF"/>
                </a:solidFill>
                <a:latin typeface="Helvetica Neue"/>
              </a:rPr>
              <a:t>Live board  →  Receipts  →  Auto page</a:t>
            </a:r>
          </a:p>
        </p:txBody>
      </p:sp>
      <p:sp>
        <p:nvSpPr>
          <p:cNvPr id="5" name="TextBox 4"/>
          <p:cNvSpPr txBox="1"/>
          <p:nvPr/>
        </p:nvSpPr>
        <p:spPr>
          <a:xfrm>
            <a:off x="548640" y="5212080"/>
            <a:ext cx="10058400" cy="731520"/>
          </a:xfrm>
          <a:prstGeom prst="rect">
            <a:avLst/>
          </a:prstGeom>
          <a:noFill/>
        </p:spPr>
        <p:txBody>
          <a:bodyPr wrap="square" anchor="t" lIns="0" rIns="0" tIns="0" bIns="0">
            <a:spAutoFit/>
          </a:bodyPr>
          <a:lstStyle/>
          <a:p>
            <a:pPr algn="l"/>
            <a:r>
              <a:rPr sz="2000" b="0">
                <a:solidFill>
                  <a:srgbClr val="8F8B84"/>
                </a:solidFill>
                <a:latin typeface="Helvetica Neue"/>
              </a:rPr>
              <a:t>Today: 30 alerts · named plays 4 of 4 correct · Steelers TD called 32 s before ESPN's feed</a:t>
            </a:r>
          </a:p>
        </p:txBody>
      </p:sp>
      <p:sp>
        <p:nvSpPr>
          <p:cNvPr id="6" name="TextBox 5"/>
          <p:cNvSpPr txBox="1"/>
          <p:nvPr/>
        </p:nvSpPr>
        <p:spPr>
          <a:xfrm>
            <a:off x="548640" y="5943600"/>
            <a:ext cx="7315200" cy="365760"/>
          </a:xfrm>
          <a:prstGeom prst="rect">
            <a:avLst/>
          </a:prstGeom>
          <a:noFill/>
        </p:spPr>
        <p:txBody>
          <a:bodyPr wrap="square" anchor="t" lIns="0" rIns="0" tIns="0" bIns="0">
            <a:spAutoFit/>
          </a:bodyPr>
          <a:lstStyle/>
          <a:p>
            <a:pPr algn="l"/>
            <a:r>
              <a:rPr sz="1600" b="0">
                <a:solidFill>
                  <a:srgbClr val="8F8B84"/>
                </a:solidFill>
                <a:latin typeface="Helvetica Neue"/>
              </a:rPr>
              <a:t>kalshi-knows.pages.dev/?present=1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HOW IT WORKS</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800" b="1">
                <a:solidFill>
                  <a:srgbClr val="EDE8DF"/>
                </a:solidFill>
                <a:latin typeface="DIN Condensed"/>
              </a:rPr>
              <a:t>TWO-STAGE MODEL, 28 SEASONS OF NFL PLAYS</a:t>
            </a:r>
          </a:p>
        </p:txBody>
      </p:sp>
      <p:sp>
        <p:nvSpPr>
          <p:cNvPr id="4" name="Rectangle 3"/>
          <p:cNvSpPr/>
          <p:nvPr/>
        </p:nvSpPr>
        <p:spPr>
          <a:xfrm>
            <a:off x="548640" y="2286000"/>
            <a:ext cx="2468880" cy="1371600"/>
          </a:xfrm>
          <a:prstGeom prst="rect">
            <a:avLst/>
          </a:prstGeom>
          <a:noFill/>
          <a:ln w="19050">
            <a:solidFill>
              <a:srgbClr val="EDE8D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EDE8DF"/>
                </a:solidFill>
                <a:latin typeface="DIN Condensed"/>
              </a:rPr>
              <a:t>Kalshi public</a:t>
            </a:r>
          </a:p>
          <a:p>
            <a:pPr algn="ctr"/>
            <a:r>
              <a:rPr sz="2400" b="1">
                <a:solidFill>
                  <a:srgbClr val="EDE8DF"/>
                </a:solidFill>
                <a:latin typeface="DIN Condensed"/>
              </a:rPr>
              <a:t>order book</a:t>
            </a:r>
          </a:p>
        </p:txBody>
      </p:sp>
      <p:sp>
        <p:nvSpPr>
          <p:cNvPr id="5" name="TextBox 4"/>
          <p:cNvSpPr txBox="1"/>
          <p:nvPr/>
        </p:nvSpPr>
        <p:spPr>
          <a:xfrm>
            <a:off x="3035808" y="2697480"/>
            <a:ext cx="365760" cy="548640"/>
          </a:xfrm>
          <a:prstGeom prst="rect">
            <a:avLst/>
          </a:prstGeom>
          <a:noFill/>
        </p:spPr>
        <p:txBody>
          <a:bodyPr wrap="square" anchor="t" lIns="0" rIns="0" tIns="0" bIns="0">
            <a:spAutoFit/>
          </a:bodyPr>
          <a:lstStyle/>
          <a:p>
            <a:pPr algn="ctr"/>
            <a:r>
              <a:rPr sz="3000" b="1">
                <a:solidFill>
                  <a:srgbClr val="FF4D1A"/>
                </a:solidFill>
                <a:latin typeface="Helvetica Neue"/>
              </a:rPr>
              <a:t>→</a:t>
            </a:r>
          </a:p>
        </p:txBody>
      </p:sp>
      <p:sp>
        <p:nvSpPr>
          <p:cNvPr id="6" name="TextBox 5"/>
          <p:cNvSpPr txBox="1"/>
          <p:nvPr/>
        </p:nvSpPr>
        <p:spPr>
          <a:xfrm>
            <a:off x="548640" y="3794760"/>
            <a:ext cx="2468880" cy="1097280"/>
          </a:xfrm>
          <a:prstGeom prst="rect">
            <a:avLst/>
          </a:prstGeom>
          <a:noFill/>
        </p:spPr>
        <p:txBody>
          <a:bodyPr wrap="square" anchor="t" lIns="0" rIns="0" tIns="0" bIns="0">
            <a:spAutoFit/>
          </a:bodyPr>
          <a:lstStyle/>
          <a:p>
            <a:pPr algn="ctr"/>
            <a:r>
              <a:rPr sz="1400" b="0">
                <a:solidFill>
                  <a:srgbClr val="8F8B84"/>
                </a:solidFill>
                <a:latin typeface="Helvetica Neue"/>
              </a:rPr>
              <a:t/>
            </a:r>
          </a:p>
        </p:txBody>
      </p:sp>
      <p:sp>
        <p:nvSpPr>
          <p:cNvPr id="7" name="Rectangle 6"/>
          <p:cNvSpPr/>
          <p:nvPr/>
        </p:nvSpPr>
        <p:spPr>
          <a:xfrm>
            <a:off x="3429000" y="2286000"/>
            <a:ext cx="2468880" cy="1371600"/>
          </a:xfrm>
          <a:prstGeom prst="rect">
            <a:avLst/>
          </a:prstGeom>
          <a:noFill/>
          <a:ln w="19050">
            <a:solidFill>
              <a:srgbClr val="EDE8D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EDE8DF"/>
                </a:solidFill>
                <a:latin typeface="DIN Condensed"/>
              </a:rPr>
              <a:t>Jump</a:t>
            </a:r>
          </a:p>
          <a:p>
            <a:pPr algn="ctr"/>
            <a:r>
              <a:rPr sz="2400" b="1">
                <a:solidFill>
                  <a:srgbClr val="EDE8DF"/>
                </a:solidFill>
                <a:latin typeface="DIN Condensed"/>
              </a:rPr>
              <a:t>detector</a:t>
            </a:r>
          </a:p>
        </p:txBody>
      </p:sp>
      <p:sp>
        <p:nvSpPr>
          <p:cNvPr id="8" name="TextBox 7"/>
          <p:cNvSpPr txBox="1"/>
          <p:nvPr/>
        </p:nvSpPr>
        <p:spPr>
          <a:xfrm>
            <a:off x="5916168" y="2697480"/>
            <a:ext cx="365760" cy="548640"/>
          </a:xfrm>
          <a:prstGeom prst="rect">
            <a:avLst/>
          </a:prstGeom>
          <a:noFill/>
        </p:spPr>
        <p:txBody>
          <a:bodyPr wrap="square" anchor="t" lIns="0" rIns="0" tIns="0" bIns="0">
            <a:spAutoFit/>
          </a:bodyPr>
          <a:lstStyle/>
          <a:p>
            <a:pPr algn="ctr"/>
            <a:r>
              <a:rPr sz="3000" b="1">
                <a:solidFill>
                  <a:srgbClr val="FF4D1A"/>
                </a:solidFill>
                <a:latin typeface="Helvetica Neue"/>
              </a:rPr>
              <a:t>→</a:t>
            </a:r>
          </a:p>
        </p:txBody>
      </p:sp>
      <p:sp>
        <p:nvSpPr>
          <p:cNvPr id="9" name="TextBox 8"/>
          <p:cNvSpPr txBox="1"/>
          <p:nvPr/>
        </p:nvSpPr>
        <p:spPr>
          <a:xfrm>
            <a:off x="3429000" y="3794760"/>
            <a:ext cx="2468880" cy="1097280"/>
          </a:xfrm>
          <a:prstGeom prst="rect">
            <a:avLst/>
          </a:prstGeom>
          <a:noFill/>
        </p:spPr>
        <p:txBody>
          <a:bodyPr wrap="square" anchor="t" lIns="0" rIns="0" tIns="0" bIns="0">
            <a:spAutoFit/>
          </a:bodyPr>
          <a:lstStyle/>
          <a:p>
            <a:pPr algn="ctr"/>
            <a:r>
              <a:rPr sz="1400" b="0">
                <a:solidFill>
                  <a:srgbClr val="8F8B84"/>
                </a:solidFill>
                <a:latin typeface="Helvetica Neue"/>
              </a:rPr>
              <a:t>price move ≥ 0.08</a:t>
            </a:r>
          </a:p>
        </p:txBody>
      </p:sp>
      <p:sp>
        <p:nvSpPr>
          <p:cNvPr id="10" name="Rectangle 9"/>
          <p:cNvSpPr/>
          <p:nvPr/>
        </p:nvSpPr>
        <p:spPr>
          <a:xfrm>
            <a:off x="6309359" y="2286000"/>
            <a:ext cx="2468880" cy="1371600"/>
          </a:xfrm>
          <a:prstGeom prst="rect">
            <a:avLst/>
          </a:prstGeom>
          <a:noFill/>
          <a:ln w="31750">
            <a:solidFill>
              <a:srgbClr val="FF4D1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EDE8DF"/>
                </a:solidFill>
                <a:latin typeface="DIN Condensed"/>
              </a:rPr>
              <a:t>Play model</a:t>
            </a:r>
          </a:p>
        </p:txBody>
      </p:sp>
      <p:sp>
        <p:nvSpPr>
          <p:cNvPr id="11" name="TextBox 10"/>
          <p:cNvSpPr txBox="1"/>
          <p:nvPr/>
        </p:nvSpPr>
        <p:spPr>
          <a:xfrm>
            <a:off x="8796528" y="2697480"/>
            <a:ext cx="365760" cy="548640"/>
          </a:xfrm>
          <a:prstGeom prst="rect">
            <a:avLst/>
          </a:prstGeom>
          <a:noFill/>
        </p:spPr>
        <p:txBody>
          <a:bodyPr wrap="square" anchor="t" lIns="0" rIns="0" tIns="0" bIns="0">
            <a:spAutoFit/>
          </a:bodyPr>
          <a:lstStyle/>
          <a:p>
            <a:pPr algn="ctr"/>
            <a:r>
              <a:rPr sz="3000" b="1">
                <a:solidFill>
                  <a:srgbClr val="FF4D1A"/>
                </a:solidFill>
                <a:latin typeface="Helvetica Neue"/>
              </a:rPr>
              <a:t>→</a:t>
            </a:r>
          </a:p>
        </p:txBody>
      </p:sp>
      <p:sp>
        <p:nvSpPr>
          <p:cNvPr id="12" name="TextBox 11"/>
          <p:cNvSpPr txBox="1"/>
          <p:nvPr/>
        </p:nvSpPr>
        <p:spPr>
          <a:xfrm>
            <a:off x="6309359" y="3794760"/>
            <a:ext cx="2468880" cy="1097280"/>
          </a:xfrm>
          <a:prstGeom prst="rect">
            <a:avLst/>
          </a:prstGeom>
          <a:noFill/>
        </p:spPr>
        <p:txBody>
          <a:bodyPr wrap="square" anchor="t" lIns="0" rIns="0" tIns="0" bIns="0">
            <a:spAutoFit/>
          </a:bodyPr>
          <a:lstStyle/>
          <a:p>
            <a:pPr algn="ctr"/>
            <a:r>
              <a:rPr sz="1400" b="0">
                <a:solidFill>
                  <a:srgbClr val="8F8B84"/>
                </a:solidFill>
                <a:latin typeface="Helvetica Neue"/>
              </a:rPr>
              <a:t>pretrained on 28 seasons of NFL plays, fine-tuned on ~8,800 real Kalshi jumps</a:t>
            </a:r>
          </a:p>
        </p:txBody>
      </p:sp>
      <p:sp>
        <p:nvSpPr>
          <p:cNvPr id="13" name="Rectangle 12"/>
          <p:cNvSpPr/>
          <p:nvPr/>
        </p:nvSpPr>
        <p:spPr>
          <a:xfrm>
            <a:off x="9189719" y="2286000"/>
            <a:ext cx="2468880" cy="1371600"/>
          </a:xfrm>
          <a:prstGeom prst="rect">
            <a:avLst/>
          </a:prstGeom>
          <a:noFill/>
          <a:ln w="19050">
            <a:solidFill>
              <a:srgbClr val="EDE8D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EDE8DF"/>
                </a:solidFill>
                <a:latin typeface="DIN Condensed"/>
              </a:rPr>
              <a:t>Push + live site</a:t>
            </a:r>
          </a:p>
          <a:p>
            <a:pPr algn="ctr"/>
            <a:r>
              <a:rPr sz="2400" b="1">
                <a:solidFill>
                  <a:srgbClr val="EDE8DF"/>
                </a:solidFill>
                <a:latin typeface="DIN Condensed"/>
              </a:rPr>
              <a:t>+ auto-bettor</a:t>
            </a:r>
          </a:p>
        </p:txBody>
      </p:sp>
      <p:sp>
        <p:nvSpPr>
          <p:cNvPr id="14" name="TextBox 13"/>
          <p:cNvSpPr txBox="1"/>
          <p:nvPr/>
        </p:nvSpPr>
        <p:spPr>
          <a:xfrm>
            <a:off x="9189719" y="3794760"/>
            <a:ext cx="2468880" cy="1097280"/>
          </a:xfrm>
          <a:prstGeom prst="rect">
            <a:avLst/>
          </a:prstGeom>
          <a:noFill/>
        </p:spPr>
        <p:txBody>
          <a:bodyPr wrap="square" anchor="t" lIns="0" rIns="0" tIns="0" bIns="0">
            <a:spAutoFit/>
          </a:bodyPr>
          <a:lstStyle/>
          <a:p>
            <a:pPr algn="ctr"/>
            <a:r>
              <a:rPr sz="1400" b="0">
                <a:solidFill>
                  <a:srgbClr val="8F8B84"/>
                </a:solidFill>
                <a:latin typeface="Helvetica Neue"/>
              </a:rPr>
              <a:t/>
            </a:r>
          </a:p>
        </p:txBody>
      </p:sp>
      <p:sp>
        <p:nvSpPr>
          <p:cNvPr id="15" name="TextBox 14"/>
          <p:cNvSpPr txBox="1"/>
          <p:nvPr/>
        </p:nvSpPr>
        <p:spPr>
          <a:xfrm>
            <a:off x="548640" y="4663440"/>
            <a:ext cx="3657600" cy="894080"/>
          </a:xfrm>
          <a:prstGeom prst="rect">
            <a:avLst/>
          </a:prstGeom>
          <a:noFill/>
        </p:spPr>
        <p:txBody>
          <a:bodyPr wrap="square" anchor="t" lIns="0" rIns="0" tIns="0" bIns="0">
            <a:spAutoFit/>
          </a:bodyPr>
          <a:lstStyle/>
          <a:p>
            <a:pPr algn="l"/>
            <a:r>
              <a:rPr sz="6400" b="1">
                <a:solidFill>
                  <a:srgbClr val="FF4D1A"/>
                </a:solidFill>
                <a:latin typeface="DIN Condensed"/>
              </a:rPr>
              <a:t>+11 pts</a:t>
            </a:r>
          </a:p>
        </p:txBody>
      </p:sp>
      <p:sp>
        <p:nvSpPr>
          <p:cNvPr id="16" name="TextBox 15"/>
          <p:cNvSpPr txBox="1"/>
          <p:nvPr/>
        </p:nvSpPr>
        <p:spPr>
          <a:xfrm>
            <a:off x="548640" y="5557520"/>
            <a:ext cx="3657600" cy="822960"/>
          </a:xfrm>
          <a:prstGeom prst="rect">
            <a:avLst/>
          </a:prstGeom>
          <a:noFill/>
        </p:spPr>
        <p:txBody>
          <a:bodyPr wrap="square" anchor="t" lIns="0" rIns="0" tIns="0" bIns="0">
            <a:spAutoFit/>
          </a:bodyPr>
          <a:lstStyle/>
          <a:p>
            <a:pPr algn="l"/>
            <a:r>
              <a:rPr sz="1800" b="0">
                <a:solidFill>
                  <a:srgbClr val="EDE8DF"/>
                </a:solidFill>
                <a:latin typeface="Helvetica Neue"/>
              </a:rPr>
              <a:t>over a smart fan</a:t>
            </a:r>
          </a:p>
        </p:txBody>
      </p:sp>
      <p:sp>
        <p:nvSpPr>
          <p:cNvPr id="17" name="TextBox 16"/>
          <p:cNvSpPr txBox="1"/>
          <p:nvPr/>
        </p:nvSpPr>
        <p:spPr>
          <a:xfrm>
            <a:off x="4572000" y="4663440"/>
            <a:ext cx="4572000" cy="894080"/>
          </a:xfrm>
          <a:prstGeom prst="rect">
            <a:avLst/>
          </a:prstGeom>
          <a:noFill/>
        </p:spPr>
        <p:txBody>
          <a:bodyPr wrap="square" anchor="t" lIns="0" rIns="0" tIns="0" bIns="0">
            <a:spAutoFit/>
          </a:bodyPr>
          <a:lstStyle/>
          <a:p>
            <a:pPr algn="l"/>
            <a:r>
              <a:rPr sz="6400" b="1">
                <a:solidFill>
                  <a:srgbClr val="EDE8DF"/>
                </a:solidFill>
                <a:latin typeface="DIN Condensed"/>
              </a:rPr>
              <a:t>15% → 3.3%</a:t>
            </a:r>
          </a:p>
        </p:txBody>
      </p:sp>
      <p:sp>
        <p:nvSpPr>
          <p:cNvPr id="18" name="TextBox 17"/>
          <p:cNvSpPr txBox="1"/>
          <p:nvPr/>
        </p:nvSpPr>
        <p:spPr>
          <a:xfrm>
            <a:off x="4572000" y="5557520"/>
            <a:ext cx="4572000" cy="822960"/>
          </a:xfrm>
          <a:prstGeom prst="rect">
            <a:avLst/>
          </a:prstGeom>
          <a:noFill/>
        </p:spPr>
        <p:txBody>
          <a:bodyPr wrap="square" anchor="t" lIns="0" rIns="0" tIns="0" bIns="0">
            <a:spAutoFit/>
          </a:bodyPr>
          <a:lstStyle/>
          <a:p>
            <a:pPr algn="l"/>
            <a:r>
              <a:rPr sz="1800" b="0">
                <a:solidFill>
                  <a:srgbClr val="EDE8DF"/>
                </a:solidFill>
                <a:latin typeface="Helvetica Neue"/>
              </a:rPr>
              <a:t>wrong labels, before vs after our audit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RESULTS</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800" b="1">
                <a:solidFill>
                  <a:srgbClr val="EDE8DF"/>
                </a:solidFill>
                <a:latin typeface="DIN Condensed"/>
              </a:rPr>
              <a:t>74–75% ON GAMES IT NEVER SAW</a:t>
            </a:r>
          </a:p>
        </p:txBody>
      </p:sp>
      <p:pic>
        <p:nvPicPr>
          <p:cNvPr id="4" name="Picture 3" descr="h_model_vs_smart_fan.png"/>
          <p:cNvPicPr>
            <a:picLocks noChangeAspect="1"/>
          </p:cNvPicPr>
          <p:nvPr/>
        </p:nvPicPr>
        <p:blipFill>
          <a:blip r:embed="rId3"/>
          <a:stretch>
            <a:fillRect/>
          </a:stretch>
        </p:blipFill>
        <p:spPr>
          <a:xfrm>
            <a:off x="548640" y="1737360"/>
            <a:ext cx="6827520" cy="3840480"/>
          </a:xfrm>
          <a:prstGeom prst="rect">
            <a:avLst/>
          </a:prstGeom>
        </p:spPr>
      </p:pic>
      <p:sp>
        <p:nvSpPr>
          <p:cNvPr id="5" name="TextBox 4"/>
          <p:cNvSpPr txBox="1"/>
          <p:nvPr/>
        </p:nvSpPr>
        <p:spPr>
          <a:xfrm>
            <a:off x="7863840" y="1938528"/>
            <a:ext cx="2377440" cy="548640"/>
          </a:xfrm>
          <a:prstGeom prst="rect">
            <a:avLst/>
          </a:prstGeom>
          <a:noFill/>
        </p:spPr>
        <p:txBody>
          <a:bodyPr wrap="square" anchor="t" lIns="0" rIns="0" tIns="0" bIns="0">
            <a:spAutoFit/>
          </a:bodyPr>
          <a:lstStyle/>
          <a:p>
            <a:pPr algn="l"/>
            <a:r>
              <a:rPr sz="2000" b="0">
                <a:solidFill>
                  <a:srgbClr val="EDE8DF"/>
                </a:solidFill>
                <a:latin typeface="Helvetica Neue"/>
              </a:rPr>
              <a:t>Smart fan</a:t>
            </a:r>
          </a:p>
        </p:txBody>
      </p:sp>
      <p:sp>
        <p:nvSpPr>
          <p:cNvPr id="6" name="TextBox 5"/>
          <p:cNvSpPr txBox="1"/>
          <p:nvPr/>
        </p:nvSpPr>
        <p:spPr>
          <a:xfrm>
            <a:off x="10058400" y="1828800"/>
            <a:ext cx="1828800" cy="640080"/>
          </a:xfrm>
          <a:prstGeom prst="rect">
            <a:avLst/>
          </a:prstGeom>
          <a:noFill/>
        </p:spPr>
        <p:txBody>
          <a:bodyPr wrap="square" anchor="t" lIns="0" rIns="0" tIns="0" bIns="0">
            <a:spAutoFit/>
          </a:bodyPr>
          <a:lstStyle/>
          <a:p>
            <a:pPr algn="l"/>
            <a:r>
              <a:rPr sz="4000" b="1">
                <a:solidFill>
                  <a:srgbClr val="EDE8DF"/>
                </a:solidFill>
                <a:latin typeface="DIN Condensed"/>
              </a:rPr>
              <a:t>63%</a:t>
            </a:r>
          </a:p>
        </p:txBody>
      </p:sp>
      <p:sp>
        <p:nvSpPr>
          <p:cNvPr id="7" name="TextBox 6"/>
          <p:cNvSpPr txBox="1"/>
          <p:nvPr/>
        </p:nvSpPr>
        <p:spPr>
          <a:xfrm>
            <a:off x="7863840" y="2670048"/>
            <a:ext cx="2377440" cy="548640"/>
          </a:xfrm>
          <a:prstGeom prst="rect">
            <a:avLst/>
          </a:prstGeom>
          <a:noFill/>
        </p:spPr>
        <p:txBody>
          <a:bodyPr wrap="square" anchor="t" lIns="0" rIns="0" tIns="0" bIns="0">
            <a:spAutoFit/>
          </a:bodyPr>
          <a:lstStyle/>
          <a:p>
            <a:pPr algn="l"/>
            <a:r>
              <a:rPr sz="2000" b="0">
                <a:solidFill>
                  <a:srgbClr val="FF4D1A"/>
                </a:solidFill>
                <a:latin typeface="Helvetica Neue"/>
              </a:rPr>
              <a:t>Kalshi Knows</a:t>
            </a:r>
          </a:p>
        </p:txBody>
      </p:sp>
      <p:sp>
        <p:nvSpPr>
          <p:cNvPr id="8" name="TextBox 7"/>
          <p:cNvSpPr txBox="1"/>
          <p:nvPr/>
        </p:nvSpPr>
        <p:spPr>
          <a:xfrm>
            <a:off x="10058400" y="2560320"/>
            <a:ext cx="1828800" cy="640080"/>
          </a:xfrm>
          <a:prstGeom prst="rect">
            <a:avLst/>
          </a:prstGeom>
          <a:noFill/>
        </p:spPr>
        <p:txBody>
          <a:bodyPr wrap="square" anchor="t" lIns="0" rIns="0" tIns="0" bIns="0">
            <a:spAutoFit/>
          </a:bodyPr>
          <a:lstStyle/>
          <a:p>
            <a:pPr algn="l"/>
            <a:r>
              <a:rPr sz="4000" b="1">
                <a:solidFill>
                  <a:srgbClr val="FF4D1A"/>
                </a:solidFill>
                <a:latin typeface="DIN Condensed"/>
              </a:rPr>
              <a:t>74–75%</a:t>
            </a:r>
          </a:p>
        </p:txBody>
      </p:sp>
      <p:sp>
        <p:nvSpPr>
          <p:cNvPr id="9" name="TextBox 8"/>
          <p:cNvSpPr txBox="1"/>
          <p:nvPr/>
        </p:nvSpPr>
        <p:spPr>
          <a:xfrm>
            <a:off x="7863840" y="3401568"/>
            <a:ext cx="2377440" cy="548640"/>
          </a:xfrm>
          <a:prstGeom prst="rect">
            <a:avLst/>
          </a:prstGeom>
          <a:noFill/>
        </p:spPr>
        <p:txBody>
          <a:bodyPr wrap="square" anchor="t" lIns="0" rIns="0" tIns="0" bIns="0">
            <a:spAutoFit/>
          </a:bodyPr>
          <a:lstStyle/>
          <a:p>
            <a:pPr algn="l"/>
            <a:r>
              <a:rPr sz="2000" b="0">
                <a:solidFill>
                  <a:srgbClr val="8F8B84"/>
                </a:solidFill>
                <a:latin typeface="Helvetica Neue"/>
              </a:rPr>
              <a:t>Always "nothing"</a:t>
            </a:r>
          </a:p>
        </p:txBody>
      </p:sp>
      <p:sp>
        <p:nvSpPr>
          <p:cNvPr id="10" name="TextBox 9"/>
          <p:cNvSpPr txBox="1"/>
          <p:nvPr/>
        </p:nvSpPr>
        <p:spPr>
          <a:xfrm>
            <a:off x="10058400" y="3291840"/>
            <a:ext cx="1828800" cy="640080"/>
          </a:xfrm>
          <a:prstGeom prst="rect">
            <a:avLst/>
          </a:prstGeom>
          <a:noFill/>
        </p:spPr>
        <p:txBody>
          <a:bodyPr wrap="square" anchor="t" lIns="0" rIns="0" tIns="0" bIns="0">
            <a:spAutoFit/>
          </a:bodyPr>
          <a:lstStyle/>
          <a:p>
            <a:pPr algn="l"/>
            <a:r>
              <a:rPr sz="4000" b="1">
                <a:solidFill>
                  <a:srgbClr val="8F8B84"/>
                </a:solidFill>
                <a:latin typeface="DIN Condensed"/>
              </a:rPr>
              <a:t>47–50%</a:t>
            </a:r>
          </a:p>
        </p:txBody>
      </p:sp>
      <p:sp>
        <p:nvSpPr>
          <p:cNvPr id="11" name="TextBox 10"/>
          <p:cNvSpPr txBox="1"/>
          <p:nvPr/>
        </p:nvSpPr>
        <p:spPr>
          <a:xfrm>
            <a:off x="7863840" y="4206240"/>
            <a:ext cx="3931920" cy="2011680"/>
          </a:xfrm>
          <a:prstGeom prst="rect">
            <a:avLst/>
          </a:prstGeom>
          <a:noFill/>
        </p:spPr>
        <p:txBody>
          <a:bodyPr wrap="square" anchor="t" lIns="0" rIns="0" tIns="0" bIns="0">
            <a:spAutoFit/>
          </a:bodyPr>
          <a:lstStyle/>
          <a:p>
            <a:pPr algn="l"/>
            <a:r>
              <a:rPr sz="1700" b="0">
                <a:solidFill>
                  <a:srgbClr val="EDE8DF"/>
                </a:solidFill>
                <a:latin typeface="Helvetica Neue"/>
              </a:rPr>
              <a:t>Named at 75%+: right ~80%</a:t>
            </a:r>
          </a:p>
          <a:p>
            <a:pPr algn="l"/>
            <a:r>
              <a:rPr sz="1700" b="0">
                <a:solidFill>
                  <a:srgbClr val="EDE8DF"/>
                </a:solidFill>
                <a:latin typeface="Helvetica Neue"/>
              </a:rPr>
              <a:t>vs Claude Opus 5.5: ties on accuracy (77 vs 76%), better calibrated, 7 ms</a:t>
            </a:r>
          </a:p>
          <a:p>
            <a:pPr algn="l"/>
            <a:r>
              <a:rPr sz="1700" b="0">
                <a:solidFill>
                  <a:srgbClr val="EDE8DF"/>
                </a:solidFill>
                <a:latin typeface="Helvetica Neue"/>
              </a:rPr>
              <a:t>Pre-registered test on today's games: named calls 8 of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WHAT THE MARKET TAUGHT US</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800" b="1">
                <a:solidFill>
                  <a:srgbClr val="EDE8DF"/>
                </a:solidFill>
                <a:latin typeface="DIN Condensed"/>
              </a:rPr>
              <a:t>WE TRIED TO BREAK IT. THE MARKET HELD.</a:t>
            </a:r>
          </a:p>
        </p:txBody>
      </p:sp>
      <p:sp>
        <p:nvSpPr>
          <p:cNvPr id="4" name="TextBox 3"/>
          <p:cNvSpPr txBox="1"/>
          <p:nvPr/>
        </p:nvSpPr>
        <p:spPr>
          <a:xfrm>
            <a:off x="548640" y="1828800"/>
            <a:ext cx="3474720" cy="1117600"/>
          </a:xfrm>
          <a:prstGeom prst="rect">
            <a:avLst/>
          </a:prstGeom>
          <a:noFill/>
        </p:spPr>
        <p:txBody>
          <a:bodyPr wrap="square" anchor="t" lIns="0" rIns="0" tIns="0" bIns="0">
            <a:spAutoFit/>
          </a:bodyPr>
          <a:lstStyle/>
          <a:p>
            <a:pPr algn="l"/>
            <a:r>
              <a:rPr sz="8000" b="1">
                <a:solidFill>
                  <a:srgbClr val="EDE8DF"/>
                </a:solidFill>
                <a:latin typeface="DIN Condensed"/>
              </a:rPr>
              <a:t>1,255</a:t>
            </a:r>
          </a:p>
        </p:txBody>
      </p:sp>
      <p:sp>
        <p:nvSpPr>
          <p:cNvPr id="5" name="TextBox 4"/>
          <p:cNvSpPr txBox="1"/>
          <p:nvPr/>
        </p:nvSpPr>
        <p:spPr>
          <a:xfrm>
            <a:off x="548640" y="2946400"/>
            <a:ext cx="3474720" cy="822960"/>
          </a:xfrm>
          <a:prstGeom prst="rect">
            <a:avLst/>
          </a:prstGeom>
          <a:noFill/>
        </p:spPr>
        <p:txBody>
          <a:bodyPr wrap="square" anchor="t" lIns="0" rIns="0" tIns="0" bIns="0">
            <a:spAutoFit/>
          </a:bodyPr>
          <a:lstStyle/>
          <a:p>
            <a:pPr algn="l"/>
            <a:r>
              <a:rPr sz="1800" b="0">
                <a:solidFill>
                  <a:srgbClr val="EDE8DF"/>
                </a:solidFill>
                <a:latin typeface="Helvetica Neue"/>
              </a:rPr>
              <a:t>trading rules tested</a:t>
            </a:r>
          </a:p>
        </p:txBody>
      </p:sp>
      <p:sp>
        <p:nvSpPr>
          <p:cNvPr id="6" name="TextBox 5"/>
          <p:cNvSpPr txBox="1"/>
          <p:nvPr/>
        </p:nvSpPr>
        <p:spPr>
          <a:xfrm>
            <a:off x="4114800" y="1828800"/>
            <a:ext cx="2926080" cy="1117600"/>
          </a:xfrm>
          <a:prstGeom prst="rect">
            <a:avLst/>
          </a:prstGeom>
          <a:noFill/>
        </p:spPr>
        <p:txBody>
          <a:bodyPr wrap="square" anchor="t" lIns="0" rIns="0" tIns="0" bIns="0">
            <a:spAutoFit/>
          </a:bodyPr>
          <a:lstStyle/>
          <a:p>
            <a:pPr algn="l"/>
            <a:r>
              <a:rPr sz="8000" b="1">
                <a:solidFill>
                  <a:srgbClr val="EDE8DF"/>
                </a:solidFill>
                <a:latin typeface="DIN Condensed"/>
              </a:rPr>
              <a:t>11</a:t>
            </a:r>
          </a:p>
        </p:txBody>
      </p:sp>
      <p:sp>
        <p:nvSpPr>
          <p:cNvPr id="7" name="TextBox 6"/>
          <p:cNvSpPr txBox="1"/>
          <p:nvPr/>
        </p:nvSpPr>
        <p:spPr>
          <a:xfrm>
            <a:off x="4114800" y="2946400"/>
            <a:ext cx="2926080" cy="822960"/>
          </a:xfrm>
          <a:prstGeom prst="rect">
            <a:avLst/>
          </a:prstGeom>
          <a:noFill/>
        </p:spPr>
        <p:txBody>
          <a:bodyPr wrap="square" anchor="t" lIns="0" rIns="0" tIns="0" bIns="0">
            <a:spAutoFit/>
          </a:bodyPr>
          <a:lstStyle/>
          <a:p>
            <a:pPr algn="l"/>
            <a:r>
              <a:rPr sz="1800" b="0">
                <a:solidFill>
                  <a:srgbClr val="EDE8DF"/>
                </a:solidFill>
                <a:latin typeface="Helvetica Neue"/>
              </a:rPr>
              <a:t>passed the stats</a:t>
            </a:r>
          </a:p>
        </p:txBody>
      </p:sp>
      <p:sp>
        <p:nvSpPr>
          <p:cNvPr id="8" name="TextBox 7"/>
          <p:cNvSpPr txBox="1"/>
          <p:nvPr/>
        </p:nvSpPr>
        <p:spPr>
          <a:xfrm>
            <a:off x="7040880" y="1828800"/>
            <a:ext cx="3474720" cy="1117600"/>
          </a:xfrm>
          <a:prstGeom prst="rect">
            <a:avLst/>
          </a:prstGeom>
          <a:noFill/>
        </p:spPr>
        <p:txBody>
          <a:bodyPr wrap="square" anchor="t" lIns="0" rIns="0" tIns="0" bIns="0">
            <a:spAutoFit/>
          </a:bodyPr>
          <a:lstStyle/>
          <a:p>
            <a:pPr algn="l"/>
            <a:r>
              <a:rPr sz="8000" b="1">
                <a:solidFill>
                  <a:srgbClr val="FF4D1A"/>
                </a:solidFill>
                <a:latin typeface="DIN Condensed"/>
              </a:rPr>
              <a:t>0</a:t>
            </a:r>
          </a:p>
        </p:txBody>
      </p:sp>
      <p:sp>
        <p:nvSpPr>
          <p:cNvPr id="9" name="TextBox 8"/>
          <p:cNvSpPr txBox="1"/>
          <p:nvPr/>
        </p:nvSpPr>
        <p:spPr>
          <a:xfrm>
            <a:off x="7040880" y="2946400"/>
            <a:ext cx="3474720" cy="822960"/>
          </a:xfrm>
          <a:prstGeom prst="rect">
            <a:avLst/>
          </a:prstGeom>
          <a:noFill/>
        </p:spPr>
        <p:txBody>
          <a:bodyPr wrap="square" anchor="t" lIns="0" rIns="0" tIns="0" bIns="0">
            <a:spAutoFit/>
          </a:bodyPr>
          <a:lstStyle/>
          <a:p>
            <a:pPr algn="l"/>
            <a:r>
              <a:rPr sz="1800" b="0">
                <a:solidFill>
                  <a:srgbClr val="EDE8DF"/>
                </a:solidFill>
                <a:latin typeface="Helvetica Neue"/>
              </a:rPr>
              <a:t>survived our skeptics</a:t>
            </a:r>
          </a:p>
        </p:txBody>
      </p:sp>
      <p:pic>
        <p:nvPicPr>
          <p:cNvPr id="10" name="Picture 9" descr="g_dutch_book_funnel.png"/>
          <p:cNvPicPr>
            <a:picLocks noChangeAspect="1"/>
          </p:cNvPicPr>
          <p:nvPr/>
        </p:nvPicPr>
        <p:blipFill>
          <a:blip r:embed="rId3"/>
          <a:stretch>
            <a:fillRect/>
          </a:stretch>
        </p:blipFill>
        <p:spPr>
          <a:xfrm>
            <a:off x="548640" y="3840480"/>
            <a:ext cx="4714240" cy="2651760"/>
          </a:xfrm>
          <a:prstGeom prst="rect">
            <a:avLst/>
          </a:prstGeom>
        </p:spPr>
      </p:pic>
      <p:sp>
        <p:nvSpPr>
          <p:cNvPr id="11" name="TextBox 10"/>
          <p:cNvSpPr txBox="1"/>
          <p:nvPr/>
        </p:nvSpPr>
        <p:spPr>
          <a:xfrm>
            <a:off x="5852160" y="4114800"/>
            <a:ext cx="5760720" cy="2194560"/>
          </a:xfrm>
          <a:prstGeom prst="rect">
            <a:avLst/>
          </a:prstGeom>
          <a:noFill/>
        </p:spPr>
        <p:txBody>
          <a:bodyPr wrap="square" anchor="t" lIns="0" rIns="0" tIns="0" bIns="0">
            <a:spAutoFit/>
          </a:bodyPr>
          <a:lstStyle/>
          <a:p>
            <a:pPr algn="l"/>
            <a:r>
              <a:rPr sz="2200" b="0">
                <a:solidFill>
                  <a:srgbClr val="EDE8DF"/>
                </a:solidFill>
                <a:latin typeface="Helvetica Neue"/>
              </a:rPr>
              <a:t>Weather, injuries, spreads: already priced in</a:t>
            </a:r>
          </a:p>
          <a:p>
            <a:pPr algn="l"/>
            <a:r>
              <a:rPr sz="2200" b="0">
                <a:solidFill>
                  <a:srgbClr val="EDE8DF"/>
                </a:solidFill>
                <a:latin typeface="Helvetica Neue"/>
              </a:rPr>
              <a:t>Dutch Book: ~100k markets, 16 arbs before fees, 0 after</a:t>
            </a:r>
          </a:p>
          <a:p>
            <a:pPr algn="l"/>
            <a:r>
              <a:rPr sz="2200" b="0">
                <a:solidFill>
                  <a:srgbClr val="EDE8DF"/>
                </a:solidFill>
                <a:latin typeface="Helvetica Neue"/>
              </a:rPr>
              <a:t>The edge is speed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BUSINESS</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800" b="1">
                <a:solidFill>
                  <a:srgbClr val="EDE8DF"/>
                </a:solidFill>
                <a:latin typeface="DIN Condensed"/>
              </a:rPr>
              <a:t>RETAIL IS THE WEDGE. DATA IS THE BUSINESS.</a:t>
            </a:r>
          </a:p>
        </p:txBody>
      </p:sp>
      <p:sp>
        <p:nvSpPr>
          <p:cNvPr id="4" name="Rectangle 3"/>
          <p:cNvSpPr/>
          <p:nvPr/>
        </p:nvSpPr>
        <p:spPr>
          <a:xfrm>
            <a:off x="548640" y="2194560"/>
            <a:ext cx="3291840" cy="64008"/>
          </a:xfrm>
          <a:prstGeom prst="rect">
            <a:avLst/>
          </a:prstGeom>
          <a:solidFill>
            <a:srgbClr val="FF4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377440"/>
            <a:ext cx="3291840" cy="548640"/>
          </a:xfrm>
          <a:prstGeom prst="rect">
            <a:avLst/>
          </a:prstGeom>
          <a:noFill/>
        </p:spPr>
        <p:txBody>
          <a:bodyPr wrap="square" anchor="t" lIns="0" rIns="0" tIns="0" bIns="0">
            <a:spAutoFit/>
          </a:bodyPr>
          <a:lstStyle/>
          <a:p>
            <a:pPr algn="l"/>
            <a:r>
              <a:rPr sz="2200" b="1">
                <a:solidFill>
                  <a:srgbClr val="FF4D1A"/>
                </a:solidFill>
                <a:latin typeface="Helvetica Neue"/>
              </a:rPr>
              <a:t>FREE</a:t>
            </a:r>
          </a:p>
        </p:txBody>
      </p:sp>
      <p:sp>
        <p:nvSpPr>
          <p:cNvPr id="6" name="TextBox 5"/>
          <p:cNvSpPr txBox="1"/>
          <p:nvPr/>
        </p:nvSpPr>
        <p:spPr>
          <a:xfrm>
            <a:off x="548640" y="2926080"/>
            <a:ext cx="3474720" cy="1005840"/>
          </a:xfrm>
          <a:prstGeom prst="rect">
            <a:avLst/>
          </a:prstGeom>
          <a:noFill/>
        </p:spPr>
        <p:txBody>
          <a:bodyPr wrap="square" anchor="t" lIns="0" rIns="0" tIns="0" bIns="0">
            <a:spAutoFit/>
          </a:bodyPr>
          <a:lstStyle/>
          <a:p>
            <a:pPr algn="l"/>
            <a:r>
              <a:rPr sz="4400" b="1">
                <a:solidFill>
                  <a:srgbClr val="EDE8DF"/>
                </a:solidFill>
                <a:latin typeface="DIN Condensed"/>
              </a:rPr>
              <a:t>$0</a:t>
            </a:r>
          </a:p>
        </p:txBody>
      </p:sp>
      <p:sp>
        <p:nvSpPr>
          <p:cNvPr id="7" name="TextBox 6"/>
          <p:cNvSpPr txBox="1"/>
          <p:nvPr/>
        </p:nvSpPr>
        <p:spPr>
          <a:xfrm>
            <a:off x="548640" y="4023360"/>
            <a:ext cx="3291840" cy="1188720"/>
          </a:xfrm>
          <a:prstGeom prst="rect">
            <a:avLst/>
          </a:prstGeom>
          <a:noFill/>
        </p:spPr>
        <p:txBody>
          <a:bodyPr wrap="square" anchor="t" lIns="0" rIns="0" tIns="0" bIns="0">
            <a:spAutoFit/>
          </a:bodyPr>
          <a:lstStyle/>
          <a:p>
            <a:pPr algn="l"/>
            <a:r>
              <a:rPr sz="1800" b="0">
                <a:solidFill>
                  <a:srgbClr val="8F8B84"/>
                </a:solidFill>
                <a:latin typeface="Helvetica Neue"/>
              </a:rPr>
              <a:t>Spoiler alerts + Spoiler Shield + Receipts</a:t>
            </a:r>
          </a:p>
        </p:txBody>
      </p:sp>
      <p:sp>
        <p:nvSpPr>
          <p:cNvPr id="8" name="Rectangle 7"/>
          <p:cNvSpPr/>
          <p:nvPr/>
        </p:nvSpPr>
        <p:spPr>
          <a:xfrm>
            <a:off x="4343400" y="2194560"/>
            <a:ext cx="3291840" cy="64008"/>
          </a:xfrm>
          <a:prstGeom prst="rect">
            <a:avLst/>
          </a:prstGeom>
          <a:solidFill>
            <a:srgbClr val="FF4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2377440"/>
            <a:ext cx="3291840" cy="548640"/>
          </a:xfrm>
          <a:prstGeom prst="rect">
            <a:avLst/>
          </a:prstGeom>
          <a:noFill/>
        </p:spPr>
        <p:txBody>
          <a:bodyPr wrap="square" anchor="t" lIns="0" rIns="0" tIns="0" bIns="0">
            <a:spAutoFit/>
          </a:bodyPr>
          <a:lstStyle/>
          <a:p>
            <a:pPr algn="l"/>
            <a:r>
              <a:rPr sz="2200" b="1">
                <a:solidFill>
                  <a:srgbClr val="FF4D1A"/>
                </a:solidFill>
                <a:latin typeface="Helvetica Neue"/>
              </a:rPr>
              <a:t>PRO</a:t>
            </a:r>
          </a:p>
        </p:txBody>
      </p:sp>
      <p:sp>
        <p:nvSpPr>
          <p:cNvPr id="10" name="TextBox 9"/>
          <p:cNvSpPr txBox="1"/>
          <p:nvPr/>
        </p:nvSpPr>
        <p:spPr>
          <a:xfrm>
            <a:off x="4343400" y="2926080"/>
            <a:ext cx="3474720" cy="1005840"/>
          </a:xfrm>
          <a:prstGeom prst="rect">
            <a:avLst/>
          </a:prstGeom>
          <a:noFill/>
        </p:spPr>
        <p:txBody>
          <a:bodyPr wrap="square" anchor="t" lIns="0" rIns="0" tIns="0" bIns="0">
            <a:spAutoFit/>
          </a:bodyPr>
          <a:lstStyle/>
          <a:p>
            <a:pPr algn="l"/>
            <a:r>
              <a:rPr sz="4400" b="1">
                <a:solidFill>
                  <a:srgbClr val="EDE8DF"/>
                </a:solidFill>
                <a:latin typeface="DIN Condensed"/>
              </a:rPr>
              <a:t>~$15/mo</a:t>
            </a:r>
          </a:p>
        </p:txBody>
      </p:sp>
      <p:sp>
        <p:nvSpPr>
          <p:cNvPr id="11" name="TextBox 10"/>
          <p:cNvSpPr txBox="1"/>
          <p:nvPr/>
        </p:nvSpPr>
        <p:spPr>
          <a:xfrm>
            <a:off x="4343400" y="4023360"/>
            <a:ext cx="3291840" cy="1188720"/>
          </a:xfrm>
          <a:prstGeom prst="rect">
            <a:avLst/>
          </a:prstGeom>
          <a:noFill/>
        </p:spPr>
        <p:txBody>
          <a:bodyPr wrap="square" anchor="t" lIns="0" rIns="0" tIns="0" bIns="0">
            <a:spAutoFit/>
          </a:bodyPr>
          <a:lstStyle/>
          <a:p>
            <a:pPr algn="l"/>
            <a:r>
              <a:rPr sz="1800" b="0">
                <a:solidFill>
                  <a:srgbClr val="8F8B84"/>
                </a:solidFill>
                <a:latin typeface="Helvetica Neue"/>
              </a:rPr>
              <a:t>Auto-bet rules, "market already moved" warnings, all markets</a:t>
            </a:r>
          </a:p>
        </p:txBody>
      </p:sp>
      <p:sp>
        <p:nvSpPr>
          <p:cNvPr id="12" name="Rectangle 11"/>
          <p:cNvSpPr/>
          <p:nvPr/>
        </p:nvSpPr>
        <p:spPr>
          <a:xfrm>
            <a:off x="8138160" y="2194560"/>
            <a:ext cx="3291840" cy="64008"/>
          </a:xfrm>
          <a:prstGeom prst="rect">
            <a:avLst/>
          </a:prstGeom>
          <a:solidFill>
            <a:srgbClr val="FF4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377440"/>
            <a:ext cx="3291840" cy="548640"/>
          </a:xfrm>
          <a:prstGeom prst="rect">
            <a:avLst/>
          </a:prstGeom>
          <a:noFill/>
        </p:spPr>
        <p:txBody>
          <a:bodyPr wrap="square" anchor="t" lIns="0" rIns="0" tIns="0" bIns="0">
            <a:spAutoFit/>
          </a:bodyPr>
          <a:lstStyle/>
          <a:p>
            <a:pPr algn="l"/>
            <a:r>
              <a:rPr sz="2200" b="1">
                <a:solidFill>
                  <a:srgbClr val="FF4D1A"/>
                </a:solidFill>
                <a:latin typeface="Helvetica Neue"/>
              </a:rPr>
              <a:t>B2B</a:t>
            </a:r>
          </a:p>
        </p:txBody>
      </p:sp>
      <p:sp>
        <p:nvSpPr>
          <p:cNvPr id="14" name="TextBox 13"/>
          <p:cNvSpPr txBox="1"/>
          <p:nvPr/>
        </p:nvSpPr>
        <p:spPr>
          <a:xfrm>
            <a:off x="8138160" y="2926080"/>
            <a:ext cx="3474720" cy="1005840"/>
          </a:xfrm>
          <a:prstGeom prst="rect">
            <a:avLst/>
          </a:prstGeom>
          <a:noFill/>
        </p:spPr>
        <p:txBody>
          <a:bodyPr wrap="square" anchor="t" lIns="0" rIns="0" tIns="0" bIns="0">
            <a:spAutoFit/>
          </a:bodyPr>
          <a:lstStyle/>
          <a:p>
            <a:pPr algn="l"/>
            <a:r>
              <a:rPr sz="4400" b="1">
                <a:solidFill>
                  <a:srgbClr val="EDE8DF"/>
                </a:solidFill>
                <a:latin typeface="DIN Condensed"/>
              </a:rPr>
              <a:t>Info-flow API</a:t>
            </a:r>
          </a:p>
        </p:txBody>
      </p:sp>
      <p:sp>
        <p:nvSpPr>
          <p:cNvPr id="15" name="TextBox 14"/>
          <p:cNvSpPr txBox="1"/>
          <p:nvPr/>
        </p:nvSpPr>
        <p:spPr>
          <a:xfrm>
            <a:off x="8138160" y="4023360"/>
            <a:ext cx="3291840" cy="1188720"/>
          </a:xfrm>
          <a:prstGeom prst="rect">
            <a:avLst/>
          </a:prstGeom>
          <a:noFill/>
        </p:spPr>
        <p:txBody>
          <a:bodyPr wrap="square" anchor="t" lIns="0" rIns="0" tIns="0" bIns="0">
            <a:spAutoFit/>
          </a:bodyPr>
          <a:lstStyle/>
          <a:p>
            <a:pPr algn="l"/>
            <a:r>
              <a:rPr sz="1800" b="0">
                <a:solidFill>
                  <a:srgbClr val="8F8B84"/>
                </a:solidFill>
                <a:latin typeface="Helvetica Neue"/>
              </a:rPr>
              <a:t>Integrity monitoring. Princeton rankings moved ~6.8 h before the official release</a:t>
            </a:r>
          </a:p>
        </p:txBody>
      </p:sp>
      <p:sp>
        <p:nvSpPr>
          <p:cNvPr id="16" name="TextBox 15"/>
          <p:cNvSpPr txBox="1"/>
          <p:nvPr/>
        </p:nvSpPr>
        <p:spPr>
          <a:xfrm>
            <a:off x="548640" y="5303520"/>
            <a:ext cx="7315200" cy="365760"/>
          </a:xfrm>
          <a:prstGeom prst="rect">
            <a:avLst/>
          </a:prstGeom>
          <a:noFill/>
        </p:spPr>
        <p:txBody>
          <a:bodyPr wrap="square" anchor="t" lIns="0" rIns="0" tIns="0" bIns="0">
            <a:spAutoFit/>
          </a:bodyPr>
          <a:lstStyle/>
          <a:p>
            <a:pPr algn="l"/>
            <a:r>
              <a:rPr sz="1600" b="0">
                <a:solidFill>
                  <a:srgbClr val="8F8B84"/>
                </a:solidFill>
                <a:latin typeface="Helvetica Neue"/>
              </a:rPr>
              <a:t>Comps: Action Network PRO $24.99/mo · OddsJam $199+/mo</a:t>
            </a:r>
          </a:p>
        </p:txBody>
      </p:sp>
      <p:sp>
        <p:nvSpPr>
          <p:cNvPr id="17" name="TextBox 16"/>
          <p:cNvSpPr txBox="1"/>
          <p:nvPr/>
        </p:nvSpPr>
        <p:spPr>
          <a:xfrm>
            <a:off x="548640" y="5760720"/>
            <a:ext cx="10972800" cy="365760"/>
          </a:xfrm>
          <a:prstGeom prst="rect">
            <a:avLst/>
          </a:prstGeom>
          <a:noFill/>
        </p:spPr>
        <p:txBody>
          <a:bodyPr wrap="square" anchor="t" lIns="0" rIns="0" tIns="0" bIns="0">
            <a:spAutoFit/>
          </a:bodyPr>
          <a:lstStyle/>
          <a:p>
            <a:pPr algn="l"/>
            <a:r>
              <a:rPr sz="1800" b="0">
                <a:solidFill>
                  <a:srgbClr val="EDE8DF"/>
                </a:solidFill>
                <a:latin typeface="Helvetica Neue"/>
              </a:rPr>
              <a:t>Works beyond NFL: trained on 4.36M settled Kalshi markets, beats the raw price on an unseen month by 2.7% (Brier)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1097280"/>
            <a:ext cx="8686800" cy="1463040"/>
          </a:xfrm>
          <a:prstGeom prst="rect">
            <a:avLst/>
          </a:prstGeom>
          <a:noFill/>
        </p:spPr>
        <p:txBody>
          <a:bodyPr wrap="square" anchor="t" lIns="0" rIns="0" tIns="0" bIns="0">
            <a:spAutoFit/>
          </a:bodyPr>
          <a:lstStyle/>
          <a:p>
            <a:pPr algn="l"/>
            <a:r>
              <a:rPr sz="10000" b="1">
                <a:solidFill>
                  <a:srgbClr val="EDE8DF"/>
                </a:solidFill>
                <a:latin typeface="DIN Condensed"/>
              </a:rPr>
              <a:t>KALSHI KNOWS.</a:t>
            </a:r>
          </a:p>
        </p:txBody>
      </p:sp>
      <p:sp>
        <p:nvSpPr>
          <p:cNvPr id="3" name="TextBox 2"/>
          <p:cNvSpPr txBox="1"/>
          <p:nvPr/>
        </p:nvSpPr>
        <p:spPr>
          <a:xfrm>
            <a:off x="548640" y="2560320"/>
            <a:ext cx="8686800" cy="1463040"/>
          </a:xfrm>
          <a:prstGeom prst="rect">
            <a:avLst/>
          </a:prstGeom>
          <a:noFill/>
        </p:spPr>
        <p:txBody>
          <a:bodyPr wrap="square" anchor="t" lIns="0" rIns="0" tIns="0" bIns="0">
            <a:spAutoFit/>
          </a:bodyPr>
          <a:lstStyle/>
          <a:p>
            <a:pPr algn="l"/>
            <a:r>
              <a:rPr sz="10000" b="1">
                <a:solidFill>
                  <a:srgbClr val="FF4D1A"/>
                </a:solidFill>
                <a:latin typeface="DIN Condensed"/>
              </a:rPr>
              <a:t>NOW YOU DO TOO.</a:t>
            </a:r>
          </a:p>
        </p:txBody>
      </p:sp>
      <p:sp>
        <p:nvSpPr>
          <p:cNvPr id="4" name="TextBox 3"/>
          <p:cNvSpPr txBox="1"/>
          <p:nvPr/>
        </p:nvSpPr>
        <p:spPr>
          <a:xfrm>
            <a:off x="548640" y="5303520"/>
            <a:ext cx="8229600" cy="457200"/>
          </a:xfrm>
          <a:prstGeom prst="rect">
            <a:avLst/>
          </a:prstGeom>
          <a:noFill/>
        </p:spPr>
        <p:txBody>
          <a:bodyPr wrap="square" anchor="t" lIns="0" rIns="0" tIns="0" bIns="0">
            <a:spAutoFit/>
          </a:bodyPr>
          <a:lstStyle/>
          <a:p>
            <a:pPr algn="l"/>
            <a:r>
              <a:rPr sz="2400" b="0">
                <a:solidFill>
                  <a:srgbClr val="EDE8DF"/>
                </a:solidFill>
                <a:latin typeface="Helvetica Neue"/>
              </a:rPr>
              <a:t>Public data only. No real money.</a:t>
            </a:r>
          </a:p>
        </p:txBody>
      </p:sp>
      <p:sp>
        <p:nvSpPr>
          <p:cNvPr id="5" name="TextBox 4"/>
          <p:cNvSpPr txBox="1"/>
          <p:nvPr/>
        </p:nvSpPr>
        <p:spPr>
          <a:xfrm>
            <a:off x="548640" y="5852160"/>
            <a:ext cx="8229600" cy="365760"/>
          </a:xfrm>
          <a:prstGeom prst="rect">
            <a:avLst/>
          </a:prstGeom>
          <a:noFill/>
        </p:spPr>
        <p:txBody>
          <a:bodyPr wrap="square" anchor="t" lIns="0" rIns="0" tIns="0" bIns="0">
            <a:spAutoFit/>
          </a:bodyPr>
          <a:lstStyle/>
          <a:p>
            <a:pPr algn="l"/>
            <a:r>
              <a:rPr sz="1800" b="0">
                <a:solidFill>
                  <a:srgbClr val="8F8B84"/>
                </a:solidFill>
                <a:latin typeface="Helvetica Neue"/>
              </a:rPr>
              <a:t>Faisal Nabulsi  ·  Kevin Huang  ·  Dugar</a:t>
            </a:r>
          </a:p>
        </p:txBody>
      </p:sp>
      <p:pic>
        <p:nvPicPr>
          <p:cNvPr id="6" name="Picture 5" descr="qr.png"/>
          <p:cNvPicPr>
            <a:picLocks noChangeAspect="1"/>
          </p:cNvPicPr>
          <p:nvPr/>
        </p:nvPicPr>
        <p:blipFill>
          <a:blip r:embed="rId3"/>
          <a:stretch>
            <a:fillRect/>
          </a:stretch>
        </p:blipFill>
        <p:spPr>
          <a:xfrm>
            <a:off x="9692640" y="3566160"/>
            <a:ext cx="1920240" cy="1920240"/>
          </a:xfrm>
          <a:prstGeom prst="rect">
            <a:avLst/>
          </a:prstGeom>
        </p:spPr>
      </p:pic>
      <p:sp>
        <p:nvSpPr>
          <p:cNvPr id="7" name="TextBox 6"/>
          <p:cNvSpPr txBox="1"/>
          <p:nvPr/>
        </p:nvSpPr>
        <p:spPr>
          <a:xfrm>
            <a:off x="9235440" y="5532120"/>
            <a:ext cx="2834640" cy="274320"/>
          </a:xfrm>
          <a:prstGeom prst="rect">
            <a:avLst/>
          </a:prstGeom>
          <a:noFill/>
        </p:spPr>
        <p:txBody>
          <a:bodyPr wrap="square" anchor="t" lIns="0" rIns="0" tIns="0" bIns="0">
            <a:spAutoFit/>
          </a:bodyPr>
          <a:lstStyle/>
          <a:p>
            <a:pPr algn="ctr"/>
            <a:r>
              <a:rPr sz="1200" b="0">
                <a:solidFill>
                  <a:srgbClr val="8F8B84"/>
                </a:solidFill>
                <a:latin typeface="Helvetica Neue"/>
              </a:rPr>
              <a:t>kalshi-knows.pages.dev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BACKUP</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400" b="1">
                <a:solidFill>
                  <a:srgbClr val="EDE8DF"/>
                </a:solidFill>
                <a:latin typeface="DIN Condensed"/>
              </a:rPr>
              <a:t>MODEL LEADERBOARD</a:t>
            </a:r>
          </a:p>
        </p:txBody>
      </p:sp>
      <p:pic>
        <p:nvPicPr>
          <p:cNvPr id="4" name="Picture 3" descr="b_model_leaderboard.png"/>
          <p:cNvPicPr>
            <a:picLocks noChangeAspect="1"/>
          </p:cNvPicPr>
          <p:nvPr/>
        </p:nvPicPr>
        <p:blipFill>
          <a:blip r:embed="rId3"/>
          <a:stretch>
            <a:fillRect/>
          </a:stretch>
        </p:blipFill>
        <p:spPr>
          <a:xfrm>
            <a:off x="548640" y="1645920"/>
            <a:ext cx="8453120" cy="47548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BACKUP</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400" b="1">
                <a:solidFill>
                  <a:srgbClr val="EDE8DF"/>
                </a:solidFill>
                <a:latin typeface="DIN Condensed"/>
              </a:rPr>
              <a:t>ACCURACY VS CONFIDENCE</a:t>
            </a:r>
          </a:p>
        </p:txBody>
      </p:sp>
      <p:pic>
        <p:nvPicPr>
          <p:cNvPr id="4" name="Picture 3" descr="e_accuracy_vs_confidence.png"/>
          <p:cNvPicPr>
            <a:picLocks noChangeAspect="1"/>
          </p:cNvPicPr>
          <p:nvPr/>
        </p:nvPicPr>
        <p:blipFill>
          <a:blip r:embed="rId3"/>
          <a:stretch>
            <a:fillRect/>
          </a:stretch>
        </p:blipFill>
        <p:spPr>
          <a:xfrm>
            <a:off x="548640" y="1645920"/>
            <a:ext cx="8453120" cy="4754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548640" y="320040"/>
            <a:ext cx="5486400" cy="365760"/>
          </a:xfrm>
          <a:prstGeom prst="rect">
            <a:avLst/>
          </a:prstGeom>
          <a:noFill/>
        </p:spPr>
        <p:txBody>
          <a:bodyPr wrap="square" anchor="t" lIns="0" rIns="0" tIns="0" bIns="0">
            <a:spAutoFit/>
          </a:bodyPr>
          <a:lstStyle/>
          <a:p>
            <a:pPr algn="l"/>
            <a:r>
              <a:rPr sz="1400" b="1">
                <a:solidFill>
                  <a:srgbClr val="FF4D1A"/>
                </a:solidFill>
                <a:latin typeface="Helvetica Neue"/>
              </a:rPr>
              <a:t>BACKUP</a:t>
            </a:r>
          </a:p>
        </p:txBody>
      </p:sp>
      <p:sp>
        <p:nvSpPr>
          <p:cNvPr id="3" name="TextBox 2"/>
          <p:cNvSpPr txBox="1"/>
          <p:nvPr/>
        </p:nvSpPr>
        <p:spPr>
          <a:xfrm>
            <a:off x="548640" y="640080"/>
            <a:ext cx="11064240" cy="1097280"/>
          </a:xfrm>
          <a:prstGeom prst="rect">
            <a:avLst/>
          </a:prstGeom>
          <a:noFill/>
        </p:spPr>
        <p:txBody>
          <a:bodyPr wrap="square" anchor="t" lIns="0" rIns="0" tIns="0" bIns="0">
            <a:spAutoFit/>
          </a:bodyPr>
          <a:lstStyle/>
          <a:p>
            <a:pPr algn="l"/>
            <a:r>
              <a:rPr sz="4400" b="1">
                <a:solidFill>
                  <a:srgbClr val="EDE8DF"/>
                </a:solidFill>
                <a:latin typeface="DIN Condensed"/>
              </a:rPr>
              <a:t>DEMO EXCHANGE LEDGER (PLAY MONEY)</a:t>
            </a:r>
          </a:p>
        </p:txBody>
      </p:sp>
      <p:pic>
        <p:nvPicPr>
          <p:cNvPr id="4" name="Picture 3" descr="i_demo_ledger.png"/>
          <p:cNvPicPr>
            <a:picLocks noChangeAspect="1"/>
          </p:cNvPicPr>
          <p:nvPr/>
        </p:nvPicPr>
        <p:blipFill>
          <a:blip r:embed="rId3"/>
          <a:stretch>
            <a:fillRect/>
          </a:stretch>
        </p:blipFill>
        <p:spPr>
          <a:xfrm>
            <a:off x="548640" y="1645920"/>
            <a:ext cx="8196461" cy="4846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